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Dice uji Sentinel-1</c:v>
                </c:pt>
              </c:strCache>
            </c:strRef>
          </c:tx>
          <c:spPr>
            <a:solidFill>
              <a:srgbClr val="0E7490"/>
            </a:solidFill>
          </c:spPr>
          <c:cat>
            <c:strRef>
              <c:f>Sheet1!$A$2:$A$6</c:f>
              <c:strCache>
                <c:ptCount val="5"/>
                <c:pt idx="0">
                  <c:v>Dark-spot</c:v>
                </c:pt>
                <c:pt idx="1">
                  <c:v>Random Forest</c:v>
                </c:pt>
                <c:pt idx="2">
                  <c:v>LightGBM</c:v>
                </c:pt>
                <c:pt idx="3">
                  <c:v>U-Net Lite</c:v>
                </c:pt>
                <c:pt idx="4">
                  <c:v>DeepLabV3+</c:v>
                </c:pt>
              </c:strCache>
            </c:strRef>
          </c:cat>
          <c:val>
            <c:numRef>
              <c:f>Sheet1!$B$2:$B$6</c:f>
              <c:numCache>
                <c:formatCode>General</c:formatCode>
                <c:ptCount val="5"/>
                <c:pt idx="0">
                  <c:v>0.726</c:v>
                </c:pt>
                <c:pt idx="1">
                  <c:v>0.804</c:v>
                </c:pt>
                <c:pt idx="2">
                  <c:v>0.806</c:v>
                </c:pt>
                <c:pt idx="3">
                  <c:v>0.855</c:v>
                </c:pt>
                <c:pt idx="4">
                  <c:v>0.867</c:v>
                </c:pt>
              </c:numCache>
            </c:numRef>
          </c:val>
        </c:ser>
        <c:ser>
          <c:idx val="1"/>
          <c:order val="1"/>
          <c:tx>
            <c:strRef>
              <c:f>Sheet1!$C$1</c:f>
              <c:strCache>
                <c:ptCount val="1"/>
                <c:pt idx="0">
                  <c:v>Dice PALSAR (lintas sensor)</c:v>
                </c:pt>
              </c:strCache>
            </c:strRef>
          </c:tx>
          <c:spPr>
            <a:solidFill>
              <a:srgbClr val="CBD5E1"/>
            </a:solidFill>
          </c:spPr>
          <c:cat>
            <c:strRef>
              <c:f>Sheet1!$A$2:$A$6</c:f>
              <c:strCache>
                <c:ptCount val="5"/>
                <c:pt idx="0">
                  <c:v>Dark-spot</c:v>
                </c:pt>
                <c:pt idx="1">
                  <c:v>Random Forest</c:v>
                </c:pt>
                <c:pt idx="2">
                  <c:v>LightGBM</c:v>
                </c:pt>
                <c:pt idx="3">
                  <c:v>U-Net Lite</c:v>
                </c:pt>
                <c:pt idx="4">
                  <c:v>DeepLabV3+</c:v>
                </c:pt>
              </c:strCache>
            </c:strRef>
          </c:cat>
          <c:val>
            <c:numRef>
              <c:f>Sheet1!$C$2:$C$6</c:f>
              <c:numCache>
                <c:formatCode>General</c:formatCode>
                <c:ptCount val="5"/>
                <c:pt idx="0">
                  <c:v>0.641</c:v>
                </c:pt>
                <c:pt idx="1">
                  <c:v>0.751</c:v>
                </c:pt>
                <c:pt idx="2">
                  <c:v>0.749</c:v>
                </c:pt>
                <c:pt idx="3">
                  <c:v>0.777</c:v>
                </c:pt>
                <c:pt idx="4">
                  <c:v>0.798</c:v>
                </c:pt>
              </c:numCache>
            </c:numRef>
          </c:val>
        </c:ser>
        <c:dLbls>
          <c:numFmt formatCode="0.000" sourceLinked="0"/>
          <c:txPr>
            <a:bodyPr/>
            <a:lstStyle/>
            <a:p>
              <a:pPr>
                <a:defRPr sz="1050">
                  <a:solidFill>
                    <a:srgbClr val="0B2545"/>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6E6EF"/>
            </a:solidFill>
          </a:ln>
        </c:spPr>
        <c:txPr>
          <a:bodyPr/>
          <a:lstStyle/>
          <a:p>
            <a:pPr>
              <a:defRPr sz="1200">
                <a:solidFill>
                  <a:srgbClr val="0B2545"/>
                </a:solidFill>
              </a:defRPr>
            </a:pPr>
          </a:p>
        </c:txPr>
        <c:crossAx val="-2113994440"/>
        <c:crosses val="autoZero"/>
        <c:auto val="1"/>
        <c:lblAlgn val="ctr"/>
        <c:lblOffset val="100"/>
        <c:noMultiLvlLbl val="0"/>
      </c:catAx>
      <c:valAx>
        <c:axId val="-2113994440"/>
        <c:scaling>
          <c:max val="0.9"/>
          <c:min val="0.5"/>
        </c:scaling>
        <c:delete val="0"/>
        <c:axPos val="l"/>
        <c:majorGridlines>
          <c:spPr>
            <a:ln>
              <a:solidFill>
                <a:srgbClr val="D6E6EF"/>
              </a:solidFill>
            </a:ln>
          </c:spPr>
        </c:majorGridlines>
        <c:majorTickMark val="out"/>
        <c:minorTickMark val="none"/>
        <c:tickLblPos val="nextTo"/>
        <c:spPr>
          <a:ln>
            <a:noFill/>
          </a:ln>
        </c:spPr>
        <c:txPr>
          <a:bodyPr/>
          <a:lstStyle/>
          <a:p>
            <a:pPr>
              <a:defRPr sz="1100">
                <a:solidFill>
                  <a:srgbClr val="5B7085"/>
                </a:solidFill>
              </a:defRPr>
            </a:pPr>
          </a:p>
        </c:txPr>
        <c:crossAx val="-2068027336"/>
        <c:crosses val="autoZero"/>
      </c:valAx>
    </c:plotArea>
    <c:legend>
      <c:legendPos val="t"/>
      <c:overlay val="0"/>
      <c:txPr>
        <a:bodyPr/>
        <a:lstStyle/>
        <a:p>
          <a:pPr>
            <a:defRPr sz="1200">
              <a:solidFill>
                <a:srgbClr val="5B7085"/>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Perkenalan kelompok. Topik: Kasus 38 Marine Oil Spill Detection and Mapping via Satellite SAR. Kami membandingkan model ML dan DL untuk mendeteksi tumpahan minyak, memetakannya menjadi poligon, dan membantu tim HSSE merencanakan respons.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Tumpahan minyak sebagian besar terkait aktivitas migas lepas pantai. Pada pilar HSSE, tim respons butuh lokasi, luas, dan arah gerak tumpahan secepat mungkin. SAR bekerja siang malam dan menembus awan; minyak tampak gelap karena meredam gelombang kapiler. Tantangannya adalah look-alike seperti angin lemah dan lapisan biogenik.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SOS berisi 8.070 pasangan citra-mask dari ALOS PALSAR (Teluk Meksiko) dan Sentinel-1A (Teluk Persia). Kami memakai Sentinel-1 karena sampel terbanyak, label ambigu lebih sedikit, dan datanya terbuka. Split 2.850 latih, 504 validasi, 839 uji. Audit memastikan tidak ada kebocoran data antar split.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unduh dataset, audit, split, preprocessing, training model ML dan DL, evaluasi, ekspor ONNX dan kuantisasi INT8, lalu aplikasi web. Threshold selalu dipilih di data validasi agar data uji tetap bersih.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ML tidak bisa belajar fitur sendiri, jadi kami membuat 13 fitur per piksel yang menggambarkan kegelapan, tekstur, dan tepi. Model DL belajar fitur langsung dari citra. DeepLabV3+ memakai encoder MobileNetV2 pralatih ImageNet. Kedua DL dilatih dengan resep yang sama agar adil.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Hasil uji: dark-spot 0,726, Random Forest 0,804, LightGBM 0,806, U-Net Lite 0,855, DeepLabV3+ 0,867. Model DL unggul 5-6 poin Dice, terutama karena precision lebih tinggi. Pada PALSAR yang tidak pernah dilihat, semua model turun 5-9 poin; DeepLabV3+ tetap terbaik (0,798). Recall DL sekitar 0,90 yang aman untuk peringatan dini.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ML cenderung menandai bercak gelap kecil di laut, DL lebih bersih karena memakai konteks spasial. Kesalahan utama: slick sangat kecil, garis gelap yang tidak dilabeli, dan batas slick karena label berupa poligon kasar.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diekspor ke ONNX. Model DL dikuantisasi INT8 statis; varian web dipilih bila penurunan Dice validasi &lt;= 0,005. Model ML diekspor sebagai satu graf (fitur + pohon). Web statis di Vercel menjalankan model dengan onnxruntime-web, jadi citra tidak dikirim ke server. Model ML paling kecil tetapi paling lambat karena 65.536 piksel harus melewati semua pohon.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 diubah menjadi poligon per slick dengan luas dan keliling, bisa diunduh GeoJSON. Simulasi memproyeksikan poligon: drift 3% angin + arus, penyebaran Fay plus difusi Okubo. Kebutuhan oil boom = 1,3 x keliling convex hull saat tim tiba; ada peringatan bila arus &gt; 0,7 knot. Batasan: dataset tidak punya koordinat dan waktu, jadi simulasi adalah skenario, bukan ramalan.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Asumsi ilustratif: 12 sortie per bulan x 4 jam x Rp45 juta per jam, dibanding 10 citra x 0,5 jam analis, dan 25% sortie tetap untuk konfirmasi. Biaya turun 75%. Jam paparan personel 192 menjadi 48 jam, sehingga kemungkinan bahaya berbasis paparan turun dua tingkat. Risiko baru berupa salah deteksi dicatat dan dikendalikan dengan verifikasi analis. Angka perlu diganti data kontrak nyata.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Rangkum hasil utama lalu pindah ke demo langsung di web.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cayman-kelompok1.vercel.app. Demo: klik Sampel 2 (DeepLabV3+), tunjukkan poligon dan daftar slick; klik Bandingkan semua model; isi resolusi 10 m, lalu di Simulasi klik preset Sedang dan Putar; tunjukkan kebutuhan oil boom; terakhir kalkulator biaya &amp; matriks risiko. Buka web sebelum presentasi agar model sudah terunduh (±20 MB).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AFD"/>
        </a:solidFill>
        <a:effectLst/>
      </p:bgPr>
    </p:bg>
    <p:spTree>
      <p:nvGrpSpPr>
        <p:cNvPr id="1" name=""/>
        <p:cNvGrpSpPr/>
        <p:nvPr/>
      </p:nvGrpSpPr>
      <p:grpSpPr/>
      <p:sp>
        <p:nvSpPr>
          <p:cNvPr id="2" name="TextBox 1"/>
          <p:cNvSpPr txBox="1"/>
          <p:nvPr/>
        </p:nvSpPr>
        <p:spPr>
          <a:xfrm>
            <a:off x="640080" y="685800"/>
            <a:ext cx="6583680" cy="320040"/>
          </a:xfrm>
          <a:prstGeom prst="rect">
            <a:avLst/>
          </a:prstGeom>
          <a:noFill/>
        </p:spPr>
        <p:txBody>
          <a:bodyPr wrap="square" anchor="t" lIns="0" rIns="0" tIns="0" bIns="0">
            <a:spAutoFit/>
          </a:bodyPr>
          <a:lstStyle/>
          <a:p>
            <a:pPr algn="l"/>
            <a:r>
              <a:rPr sz="1250" b="1" i="0">
                <a:solidFill>
                  <a:srgbClr val="0E7490"/>
                </a:solidFill>
                <a:latin typeface="Calibri"/>
              </a:rPr>
              <a:t>TUGAS BESAR DEEP LEARNING · KELOMPOK 1 CAYMAN · KASUS 38</a:t>
            </a:r>
          </a:p>
        </p:txBody>
      </p:sp>
      <p:sp>
        <p:nvSpPr>
          <p:cNvPr id="3" name="TextBox 2"/>
          <p:cNvSpPr txBox="1"/>
          <p:nvPr/>
        </p:nvSpPr>
        <p:spPr>
          <a:xfrm>
            <a:off x="640080" y="1143000"/>
            <a:ext cx="6400800" cy="2377440"/>
          </a:xfrm>
          <a:prstGeom prst="rect">
            <a:avLst/>
          </a:prstGeom>
          <a:noFill/>
        </p:spPr>
        <p:txBody>
          <a:bodyPr wrap="square" anchor="t" lIns="0" rIns="0" tIns="0" bIns="0">
            <a:spAutoFit/>
          </a:bodyPr>
          <a:lstStyle/>
          <a:p>
            <a:pPr algn="l"/>
            <a:r>
              <a:rPr sz="3800" b="1" i="0">
                <a:solidFill>
                  <a:srgbClr val="0B2545"/>
                </a:solidFill>
                <a:latin typeface="Calibri"/>
              </a:rPr>
              <a:t>Deteksi, Pemetaan, &amp; Perencanaan Respons </a:t>
            </a:r>
            <a:r>
              <a:rPr sz="3800" b="1" i="0">
                <a:solidFill>
                  <a:srgbClr val="7C3AED"/>
                </a:solidFill>
                <a:latin typeface="Calibri"/>
              </a:rPr>
              <a:t>Tumpahan Minyak</a:t>
            </a:r>
          </a:p>
          <a:p>
            <a:pPr algn="l"/>
            <a:r>
              <a:rPr sz="3800" b="1" i="0">
                <a:solidFill>
                  <a:srgbClr val="0B2545"/>
                </a:solidFill>
                <a:latin typeface="Calibri"/>
              </a:rPr>
              <a:t>dari Citra Satelit Sentinel-1 SAR</a:t>
            </a:r>
          </a:p>
        </p:txBody>
      </p:sp>
      <p:sp>
        <p:nvSpPr>
          <p:cNvPr id="4" name="TextBox 3"/>
          <p:cNvSpPr txBox="1"/>
          <p:nvPr/>
        </p:nvSpPr>
        <p:spPr>
          <a:xfrm>
            <a:off x="640080" y="3611880"/>
            <a:ext cx="6217920" cy="822960"/>
          </a:xfrm>
          <a:prstGeom prst="rect">
            <a:avLst/>
          </a:prstGeom>
          <a:noFill/>
        </p:spPr>
        <p:txBody>
          <a:bodyPr wrap="square" anchor="t" lIns="0" rIns="0" tIns="0" bIns="0">
            <a:spAutoFit/>
          </a:bodyPr>
          <a:lstStyle/>
          <a:p>
            <a:pPr algn="l"/>
            <a:r>
              <a:rPr sz="1700" b="0" i="0">
                <a:solidFill>
                  <a:srgbClr val="5B7085"/>
                </a:solidFill>
                <a:latin typeface="Calibri"/>
              </a:rPr>
              <a:t>Perbandingan Machine Learning &amp; Deep Learning, inferensi langsung di browser, dan dukungan keputusan untuk tim HSSE.</a:t>
            </a:r>
          </a:p>
        </p:txBody>
      </p:sp>
      <p:sp>
        <p:nvSpPr>
          <p:cNvPr id="5" name="TextBox 4"/>
          <p:cNvSpPr txBox="1"/>
          <p:nvPr/>
        </p:nvSpPr>
        <p:spPr>
          <a:xfrm>
            <a:off x="640080" y="4709160"/>
            <a:ext cx="6217920" cy="1188720"/>
          </a:xfrm>
          <a:prstGeom prst="rect">
            <a:avLst/>
          </a:prstGeom>
          <a:noFill/>
        </p:spPr>
        <p:txBody>
          <a:bodyPr wrap="square" anchor="t" lIns="0" rIns="0" tIns="0" bIns="0">
            <a:spAutoFit/>
          </a:bodyPr>
          <a:lstStyle/>
          <a:p>
            <a:pPr algn="l">
              <a:spcAft>
                <a:spcPts val="300"/>
              </a:spcAft>
            </a:pPr>
            <a:r>
              <a:rPr sz="1300" b="1" i="0">
                <a:solidFill>
                  <a:srgbClr val="0B2545"/>
                </a:solidFill>
                <a:latin typeface="Calibri"/>
              </a:rPr>
              <a:t>Ketua: </a:t>
            </a:r>
            <a:r>
              <a:rPr sz="1300" b="0" i="0">
                <a:solidFill>
                  <a:srgbClr val="0B2545"/>
                </a:solidFill>
                <a:latin typeface="Calibri"/>
              </a:rPr>
              <a:t>Ade Rizky Darmawan</a:t>
            </a:r>
          </a:p>
          <a:p>
            <a:pPr algn="l">
              <a:spcAft>
                <a:spcPts val="300"/>
              </a:spcAft>
            </a:pPr>
            <a:r>
              <a:rPr sz="1300" b="0" i="0">
                <a:solidFill>
                  <a:srgbClr val="0B2545"/>
                </a:solidFill>
                <a:latin typeface="Calibri"/>
              </a:rPr>
              <a:t>Arkananta Daniswara Handoyo, Muhammad Arsyad Alzam, Choirul Amin, Hana Titania Sastrian, Zaydan Arief Athallah</a:t>
            </a:r>
          </a:p>
          <a:p>
            <a:pPr algn="l">
              <a:spcAft>
                <a:spcPts val="300"/>
              </a:spcAft>
            </a:pPr>
            <a:r>
              <a:rPr sz="1300" b="0" i="0">
                <a:solidFill>
                  <a:srgbClr val="0B2545"/>
                </a:solidFill>
                <a:latin typeface="Calibri"/>
              </a:rPr>
              <a:t>S1 Sains Data · UPN "Veteran" Jawa Timur</a:t>
            </a:r>
          </a:p>
        </p:txBody>
      </p:sp>
      <p:pic>
        <p:nvPicPr>
          <p:cNvPr id="6" name="Picture 5" descr="hero_art.png"/>
          <p:cNvPicPr>
            <a:picLocks noChangeAspect="1"/>
          </p:cNvPicPr>
          <p:nvPr/>
        </p:nvPicPr>
        <p:blipFill>
          <a:blip r:embed="rId2"/>
          <a:stretch>
            <a:fillRect/>
          </a:stretch>
        </p:blipFill>
        <p:spPr>
          <a:xfrm>
            <a:off x="7086600" y="1447022"/>
            <a:ext cx="4572000" cy="387251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01 · LATAR BELAKANG</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Tumpahan minyak harus dipetakan secepat mungkin</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Tim HSSE butuh lokasi, luas, dan arah gerak tumpahan untuk menempatkan oil boom dan skimmer.</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2</a:t>
            </a:r>
          </a:p>
        </p:txBody>
      </p:sp>
      <p:sp>
        <p:nvSpPr>
          <p:cNvPr id="11" name="Rounded Rectangle 10"/>
          <p:cNvSpPr/>
          <p:nvPr/>
        </p:nvSpPr>
        <p:spPr>
          <a:xfrm>
            <a:off x="548640" y="2148840"/>
            <a:ext cx="3566160" cy="2743200"/>
          </a:xfrm>
          <a:prstGeom prst="roundRect">
            <a:avLst>
              <a:gd name="adj" fmla="val 4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77240" y="2395728"/>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331720"/>
            <a:ext cx="2834639" cy="365760"/>
          </a:xfrm>
          <a:prstGeom prst="rect">
            <a:avLst/>
          </a:prstGeom>
          <a:noFill/>
        </p:spPr>
        <p:txBody>
          <a:bodyPr wrap="square" anchor="t" lIns="0" rIns="0" tIns="0" bIns="0">
            <a:spAutoFit/>
          </a:bodyPr>
          <a:lstStyle/>
          <a:p>
            <a:pPr algn="l"/>
            <a:r>
              <a:rPr sz="1700" b="1" i="0">
                <a:solidFill>
                  <a:srgbClr val="0B2545"/>
                </a:solidFill>
                <a:latin typeface="Calibri"/>
              </a:rPr>
              <a:t>Sumber risiko migas</a:t>
            </a:r>
          </a:p>
        </p:txBody>
      </p:sp>
      <p:sp>
        <p:nvSpPr>
          <p:cNvPr id="14" name="TextBox 13"/>
          <p:cNvSpPr txBox="1"/>
          <p:nvPr/>
        </p:nvSpPr>
        <p:spPr>
          <a:xfrm>
            <a:off x="777240" y="2788920"/>
            <a:ext cx="3108960" cy="1965960"/>
          </a:xfrm>
          <a:prstGeom prst="rect">
            <a:avLst/>
          </a:prstGeom>
          <a:noFill/>
        </p:spPr>
        <p:txBody>
          <a:bodyPr wrap="square" anchor="t" lIns="0" rIns="0" tIns="0" bIns="0">
            <a:spAutoFit/>
          </a:bodyPr>
          <a:lstStyle/>
          <a:p>
            <a:pPr algn="l">
              <a:spcAft>
                <a:spcPts val="400"/>
              </a:spcAft>
            </a:pPr>
            <a:r>
              <a:rPr sz="1550" b="0" i="0">
                <a:solidFill>
                  <a:srgbClr val="0B2545"/>
                </a:solidFill>
                <a:latin typeface="Calibri"/>
              </a:rPr>
              <a:t>Semburan rig lepas pantai, kebocoran pipa bawah laut, kecelakaan tanker, dan buangan kapal. Pengecekan manual lewat patroli udara/laut mahal dan memaparkan personel pada bahaya.</a:t>
            </a:r>
          </a:p>
        </p:txBody>
      </p:sp>
      <p:sp>
        <p:nvSpPr>
          <p:cNvPr id="15" name="Rounded Rectangle 14"/>
          <p:cNvSpPr/>
          <p:nvPr/>
        </p:nvSpPr>
        <p:spPr>
          <a:xfrm>
            <a:off x="4315968" y="2148840"/>
            <a:ext cx="3566160" cy="2743200"/>
          </a:xfrm>
          <a:prstGeom prst="roundRect">
            <a:avLst>
              <a:gd name="adj" fmla="val 4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544568" y="2395728"/>
            <a:ext cx="201168" cy="20116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4607" y="2331720"/>
            <a:ext cx="2834639" cy="365760"/>
          </a:xfrm>
          <a:prstGeom prst="rect">
            <a:avLst/>
          </a:prstGeom>
          <a:noFill/>
        </p:spPr>
        <p:txBody>
          <a:bodyPr wrap="square" anchor="t" lIns="0" rIns="0" tIns="0" bIns="0">
            <a:spAutoFit/>
          </a:bodyPr>
          <a:lstStyle/>
          <a:p>
            <a:pPr algn="l"/>
            <a:r>
              <a:rPr sz="1700" b="1" i="0">
                <a:solidFill>
                  <a:srgbClr val="0B2545"/>
                </a:solidFill>
                <a:latin typeface="Calibri"/>
              </a:rPr>
              <a:t>Kenapa citra SAR?</a:t>
            </a:r>
          </a:p>
        </p:txBody>
      </p:sp>
      <p:sp>
        <p:nvSpPr>
          <p:cNvPr id="18" name="TextBox 17"/>
          <p:cNvSpPr txBox="1"/>
          <p:nvPr/>
        </p:nvSpPr>
        <p:spPr>
          <a:xfrm>
            <a:off x="4544568" y="2788920"/>
            <a:ext cx="3108960" cy="1965960"/>
          </a:xfrm>
          <a:prstGeom prst="rect">
            <a:avLst/>
          </a:prstGeom>
          <a:noFill/>
        </p:spPr>
        <p:txBody>
          <a:bodyPr wrap="square" anchor="t" lIns="0" rIns="0" tIns="0" bIns="0">
            <a:spAutoFit/>
          </a:bodyPr>
          <a:lstStyle/>
          <a:p>
            <a:pPr algn="l">
              <a:spcAft>
                <a:spcPts val="400"/>
              </a:spcAft>
            </a:pPr>
            <a:r>
              <a:rPr sz="1550" b="0" i="0">
                <a:solidFill>
                  <a:srgbClr val="0B2545"/>
                </a:solidFill>
                <a:latin typeface="Calibri"/>
              </a:rPr>
              <a:t>Radar Sentinel-1 bekerja siang–malam dan menembus awan. Minyak meredam riak gelombang sehingga tampak gelap. Lebih dari 80% tumpahan di Teluk Jiaozhou terjadi malam hari [Liao 2023].</a:t>
            </a:r>
          </a:p>
        </p:txBody>
      </p:sp>
      <p:sp>
        <p:nvSpPr>
          <p:cNvPr id="19" name="Rounded Rectangle 18"/>
          <p:cNvSpPr/>
          <p:nvPr/>
        </p:nvSpPr>
        <p:spPr>
          <a:xfrm>
            <a:off x="8083296" y="2148840"/>
            <a:ext cx="3566160" cy="2743200"/>
          </a:xfrm>
          <a:prstGeom prst="roundRect">
            <a:avLst>
              <a:gd name="adj" fmla="val 4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311896" y="239572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31936" y="2331720"/>
            <a:ext cx="2834639" cy="365760"/>
          </a:xfrm>
          <a:prstGeom prst="rect">
            <a:avLst/>
          </a:prstGeom>
          <a:noFill/>
        </p:spPr>
        <p:txBody>
          <a:bodyPr wrap="square" anchor="t" lIns="0" rIns="0" tIns="0" bIns="0">
            <a:spAutoFit/>
          </a:bodyPr>
          <a:lstStyle/>
          <a:p>
            <a:pPr algn="l"/>
            <a:r>
              <a:rPr sz="1700" b="1" i="0">
                <a:solidFill>
                  <a:srgbClr val="0B2545"/>
                </a:solidFill>
                <a:latin typeface="Calibri"/>
              </a:rPr>
              <a:t>Tantangannya</a:t>
            </a:r>
          </a:p>
        </p:txBody>
      </p:sp>
      <p:sp>
        <p:nvSpPr>
          <p:cNvPr id="22" name="TextBox 21"/>
          <p:cNvSpPr txBox="1"/>
          <p:nvPr/>
        </p:nvSpPr>
        <p:spPr>
          <a:xfrm>
            <a:off x="8311896" y="2788920"/>
            <a:ext cx="3108960" cy="1965960"/>
          </a:xfrm>
          <a:prstGeom prst="rect">
            <a:avLst/>
          </a:prstGeom>
          <a:noFill/>
        </p:spPr>
        <p:txBody>
          <a:bodyPr wrap="square" anchor="t" lIns="0" rIns="0" tIns="0" bIns="0">
            <a:spAutoFit/>
          </a:bodyPr>
          <a:lstStyle/>
          <a:p>
            <a:pPr algn="l">
              <a:spcAft>
                <a:spcPts val="400"/>
              </a:spcAft>
            </a:pPr>
            <a:r>
              <a:rPr sz="1550" b="0" i="0">
                <a:solidFill>
                  <a:srgbClr val="0B2545"/>
                </a:solidFill>
                <a:latin typeface="Calibri"/>
              </a:rPr>
              <a:t>Area gelap alami (angin lemah, lapisan biogenik) terlihat mirip minyak (look-alike). Interpretasi manual lambat dan rentan bias.</a:t>
            </a:r>
          </a:p>
        </p:txBody>
      </p:sp>
      <p:sp>
        <p:nvSpPr>
          <p:cNvPr id="23" name="Rounded Rectangle 22"/>
          <p:cNvSpPr/>
          <p:nvPr/>
        </p:nvSpPr>
        <p:spPr>
          <a:xfrm>
            <a:off x="548640" y="5166360"/>
            <a:ext cx="11100816" cy="960120"/>
          </a:xfrm>
          <a:prstGeom prst="roundRect">
            <a:avLst>
              <a:gd name="adj" fmla="val 11428"/>
            </a:avLst>
          </a:prstGeom>
          <a:solidFill>
            <a:srgbClr val="E0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60" y="5303520"/>
            <a:ext cx="10607040" cy="731520"/>
          </a:xfrm>
          <a:prstGeom prst="rect">
            <a:avLst/>
          </a:prstGeom>
          <a:noFill/>
        </p:spPr>
        <p:txBody>
          <a:bodyPr wrap="square" anchor="ctr" lIns="0" rIns="0" tIns="0" bIns="0">
            <a:spAutoFit/>
          </a:bodyPr>
          <a:lstStyle/>
          <a:p>
            <a:pPr algn="l"/>
            <a:r>
              <a:rPr sz="1500" b="1" i="0">
                <a:solidFill>
                  <a:srgbClr val="0E7490"/>
                </a:solidFill>
                <a:latin typeface="Calibri"/>
              </a:rPr>
              <a:t>Tujuan: </a:t>
            </a:r>
            <a:r>
              <a:rPr sz="1500" b="0" i="0">
                <a:solidFill>
                  <a:srgbClr val="0B2545"/>
                </a:solidFill>
                <a:latin typeface="Calibri"/>
              </a:rPr>
              <a:t>model segmentasi otomatis yang akurat &amp; ringan, berjalan di browser, lalu diperluas menjadi alat bantu respons HSSE (poligon, simulasi penyebaran, oil boom, biaya &amp; risiko).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02 · DATA</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Dataset SOS: citra SAR + mask tumpahan</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Deep-SAR Oil Spill (Zhu dkk., 2022) · Kaggle · CC BY 4.0 · patch 256×256 piksel</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3</a:t>
            </a:r>
          </a:p>
        </p:txBody>
      </p:sp>
      <p:sp>
        <p:nvSpPr>
          <p:cNvPr id="11" name="TextBox 10"/>
          <p:cNvSpPr txBox="1"/>
          <p:nvPr/>
        </p:nvSpPr>
        <p:spPr>
          <a:xfrm>
            <a:off x="548640" y="2103120"/>
            <a:ext cx="2651760" cy="685800"/>
          </a:xfrm>
          <a:prstGeom prst="rect">
            <a:avLst/>
          </a:prstGeom>
          <a:noFill/>
        </p:spPr>
        <p:txBody>
          <a:bodyPr wrap="square" anchor="t" lIns="0" rIns="0" tIns="0" bIns="0">
            <a:spAutoFit/>
          </a:bodyPr>
          <a:lstStyle/>
          <a:p>
            <a:pPr algn="l"/>
            <a:r>
              <a:rPr sz="4000" b="1" i="0">
                <a:solidFill>
                  <a:srgbClr val="0B2545"/>
                </a:solidFill>
                <a:latin typeface="Calibri"/>
              </a:rPr>
              <a:t>8.070</a:t>
            </a:r>
          </a:p>
        </p:txBody>
      </p:sp>
      <p:sp>
        <p:nvSpPr>
          <p:cNvPr id="12" name="TextBox 11"/>
          <p:cNvSpPr txBox="1"/>
          <p:nvPr/>
        </p:nvSpPr>
        <p:spPr>
          <a:xfrm>
            <a:off x="548640" y="2816352"/>
            <a:ext cx="2651760" cy="548640"/>
          </a:xfrm>
          <a:prstGeom prst="rect">
            <a:avLst/>
          </a:prstGeom>
          <a:noFill/>
        </p:spPr>
        <p:txBody>
          <a:bodyPr wrap="square" anchor="t" lIns="0" rIns="0" tIns="0" bIns="0">
            <a:spAutoFit/>
          </a:bodyPr>
          <a:lstStyle/>
          <a:p>
            <a:pPr algn="l"/>
            <a:r>
              <a:rPr sz="1250" b="0" i="0">
                <a:solidFill>
                  <a:srgbClr val="5B7085"/>
                </a:solidFill>
                <a:latin typeface="Calibri"/>
              </a:rPr>
              <a:t>pasangan citra–mask
(ALOS PALSAR + Sentinel-1A)</a:t>
            </a:r>
          </a:p>
        </p:txBody>
      </p:sp>
      <p:sp>
        <p:nvSpPr>
          <p:cNvPr id="13" name="TextBox 12"/>
          <p:cNvSpPr txBox="1"/>
          <p:nvPr/>
        </p:nvSpPr>
        <p:spPr>
          <a:xfrm>
            <a:off x="3200400" y="2103120"/>
            <a:ext cx="2651760" cy="685800"/>
          </a:xfrm>
          <a:prstGeom prst="rect">
            <a:avLst/>
          </a:prstGeom>
          <a:noFill/>
        </p:spPr>
        <p:txBody>
          <a:bodyPr wrap="square" anchor="t" lIns="0" rIns="0" tIns="0" bIns="0">
            <a:spAutoFit/>
          </a:bodyPr>
          <a:lstStyle/>
          <a:p>
            <a:pPr algn="l"/>
            <a:r>
              <a:rPr sz="4000" b="1" i="0">
                <a:solidFill>
                  <a:srgbClr val="0E7490"/>
                </a:solidFill>
                <a:latin typeface="Calibri"/>
              </a:rPr>
              <a:t>4.193</a:t>
            </a:r>
          </a:p>
        </p:txBody>
      </p:sp>
      <p:sp>
        <p:nvSpPr>
          <p:cNvPr id="14" name="TextBox 13"/>
          <p:cNvSpPr txBox="1"/>
          <p:nvPr/>
        </p:nvSpPr>
        <p:spPr>
          <a:xfrm>
            <a:off x="3200400" y="2816352"/>
            <a:ext cx="2651760" cy="548640"/>
          </a:xfrm>
          <a:prstGeom prst="rect">
            <a:avLst/>
          </a:prstGeom>
          <a:noFill/>
        </p:spPr>
        <p:txBody>
          <a:bodyPr wrap="square" anchor="t" lIns="0" rIns="0" tIns="0" bIns="0">
            <a:spAutoFit/>
          </a:bodyPr>
          <a:lstStyle/>
          <a:p>
            <a:pPr algn="l"/>
            <a:r>
              <a:rPr sz="1250" b="0" i="0">
                <a:solidFill>
                  <a:srgbClr val="5B7085"/>
                </a:solidFill>
                <a:latin typeface="Calibri"/>
              </a:rPr>
              <a:t>citra Sentinel-1 dipakai
(sensor utama)</a:t>
            </a:r>
          </a:p>
        </p:txBody>
      </p:sp>
      <p:sp>
        <p:nvSpPr>
          <p:cNvPr id="15" name="TextBox 14"/>
          <p:cNvSpPr txBox="1"/>
          <p:nvPr/>
        </p:nvSpPr>
        <p:spPr>
          <a:xfrm>
            <a:off x="548640" y="3520440"/>
            <a:ext cx="2651760" cy="685800"/>
          </a:xfrm>
          <a:prstGeom prst="rect">
            <a:avLst/>
          </a:prstGeom>
          <a:noFill/>
        </p:spPr>
        <p:txBody>
          <a:bodyPr wrap="square" anchor="t" lIns="0" rIns="0" tIns="0" bIns="0">
            <a:spAutoFit/>
          </a:bodyPr>
          <a:lstStyle/>
          <a:p>
            <a:pPr algn="l"/>
            <a:r>
              <a:rPr sz="3000" b="1" i="0">
                <a:solidFill>
                  <a:srgbClr val="0B2545"/>
                </a:solidFill>
                <a:latin typeface="Calibri"/>
              </a:rPr>
              <a:t>2.850 · 504</a:t>
            </a:r>
          </a:p>
        </p:txBody>
      </p:sp>
      <p:sp>
        <p:nvSpPr>
          <p:cNvPr id="16" name="TextBox 15"/>
          <p:cNvSpPr txBox="1"/>
          <p:nvPr/>
        </p:nvSpPr>
        <p:spPr>
          <a:xfrm>
            <a:off x="548640" y="4233672"/>
            <a:ext cx="2651760" cy="548640"/>
          </a:xfrm>
          <a:prstGeom prst="rect">
            <a:avLst/>
          </a:prstGeom>
          <a:noFill/>
        </p:spPr>
        <p:txBody>
          <a:bodyPr wrap="square" anchor="t" lIns="0" rIns="0" tIns="0" bIns="0">
            <a:spAutoFit/>
          </a:bodyPr>
          <a:lstStyle/>
          <a:p>
            <a:pPr algn="l"/>
            <a:r>
              <a:rPr sz="1250" b="0" i="0">
                <a:solidFill>
                  <a:srgbClr val="5B7085"/>
                </a:solidFill>
                <a:latin typeface="Calibri"/>
              </a:rPr>
              <a:t>latih · validasi
(grup near-duplicate tidak dipisah)</a:t>
            </a:r>
          </a:p>
        </p:txBody>
      </p:sp>
      <p:sp>
        <p:nvSpPr>
          <p:cNvPr id="17" name="TextBox 16"/>
          <p:cNvSpPr txBox="1"/>
          <p:nvPr/>
        </p:nvSpPr>
        <p:spPr>
          <a:xfrm>
            <a:off x="3200400" y="3520440"/>
            <a:ext cx="2651760" cy="685800"/>
          </a:xfrm>
          <a:prstGeom prst="rect">
            <a:avLst/>
          </a:prstGeom>
          <a:noFill/>
        </p:spPr>
        <p:txBody>
          <a:bodyPr wrap="square" anchor="t" lIns="0" rIns="0" tIns="0" bIns="0">
            <a:spAutoFit/>
          </a:bodyPr>
          <a:lstStyle/>
          <a:p>
            <a:pPr algn="l"/>
            <a:r>
              <a:rPr sz="4000" b="1" i="0">
                <a:solidFill>
                  <a:srgbClr val="7C3AED"/>
                </a:solidFill>
                <a:latin typeface="Calibri"/>
              </a:rPr>
              <a:t>839</a:t>
            </a:r>
          </a:p>
        </p:txBody>
      </p:sp>
      <p:sp>
        <p:nvSpPr>
          <p:cNvPr id="18" name="TextBox 17"/>
          <p:cNvSpPr txBox="1"/>
          <p:nvPr/>
        </p:nvSpPr>
        <p:spPr>
          <a:xfrm>
            <a:off x="3200400" y="4233672"/>
            <a:ext cx="2651760" cy="548640"/>
          </a:xfrm>
          <a:prstGeom prst="rect">
            <a:avLst/>
          </a:prstGeom>
          <a:noFill/>
        </p:spPr>
        <p:txBody>
          <a:bodyPr wrap="square" anchor="t" lIns="0" rIns="0" tIns="0" bIns="0">
            <a:spAutoFit/>
          </a:bodyPr>
          <a:lstStyle/>
          <a:p>
            <a:pPr algn="l"/>
            <a:r>
              <a:rPr sz="1250" b="0" i="0">
                <a:solidFill>
                  <a:srgbClr val="5B7085"/>
                </a:solidFill>
                <a:latin typeface="Calibri"/>
              </a:rPr>
              <a:t>citra uji, dipakai sekali
+ 776 PALSAR (lintas sensor)</a:t>
            </a:r>
          </a:p>
        </p:txBody>
      </p:sp>
      <p:sp>
        <p:nvSpPr>
          <p:cNvPr id="19" name="Rounded Rectangle 18"/>
          <p:cNvSpPr/>
          <p:nvPr/>
        </p:nvSpPr>
        <p:spPr>
          <a:xfrm>
            <a:off x="548640" y="4983480"/>
            <a:ext cx="5303520" cy="1005840"/>
          </a:xfrm>
          <a:prstGeom prst="roundRect">
            <a:avLst>
              <a:gd name="adj" fmla="val 10909"/>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5102352"/>
            <a:ext cx="4892040" cy="1051560"/>
          </a:xfrm>
          <a:prstGeom prst="rect">
            <a:avLst/>
          </a:prstGeom>
          <a:noFill/>
        </p:spPr>
        <p:txBody>
          <a:bodyPr wrap="square" anchor="t" lIns="0" rIns="0" tIns="0" bIns="0">
            <a:spAutoFit/>
          </a:bodyPr>
          <a:lstStyle/>
          <a:p>
            <a:pPr algn="l"/>
            <a:r>
              <a:rPr sz="1250" b="1" i="0">
                <a:solidFill>
                  <a:srgbClr val="0B2545"/>
                </a:solidFill>
                <a:latin typeface="Calibri"/>
              </a:rPr>
              <a:t>Audit sebelum training: </a:t>
            </a:r>
            <a:r>
              <a:rPr sz="1250" b="0" i="0">
                <a:solidFill>
                  <a:srgbClr val="0B2545"/>
                </a:solidFill>
                <a:latin typeface="Calibri"/>
              </a:rPr>
              <a:t>pasangan lengkap, 3 kanal identik → 1 kanal, label dibinerkan (≥128), tidak ada duplikat eksak; hanya 9 citra uji mirip citra latih (dampak diuji: Dice −0,0008).</a:t>
            </a:r>
          </a:p>
        </p:txBody>
      </p:sp>
      <p:pic>
        <p:nvPicPr>
          <p:cNvPr id="21" name="Picture 20" descr="sample_pairs_grid.png"/>
          <p:cNvPicPr>
            <a:picLocks noChangeAspect="1"/>
          </p:cNvPicPr>
          <p:nvPr/>
        </p:nvPicPr>
        <p:blipFill>
          <a:blip r:embed="rId2"/>
          <a:stretch>
            <a:fillRect/>
          </a:stretch>
        </p:blipFill>
        <p:spPr>
          <a:xfrm>
            <a:off x="6172200" y="2217420"/>
            <a:ext cx="5486400" cy="3840480"/>
          </a:xfrm>
          <a:prstGeom prst="rect">
            <a:avLst/>
          </a:prstGeom>
        </p:spPr>
      </p:pic>
      <p:sp>
        <p:nvSpPr>
          <p:cNvPr id="22" name="TextBox 21"/>
          <p:cNvSpPr txBox="1"/>
          <p:nvPr/>
        </p:nvSpPr>
        <p:spPr>
          <a:xfrm>
            <a:off x="6172200" y="6291072"/>
            <a:ext cx="5486400" cy="274320"/>
          </a:xfrm>
          <a:prstGeom prst="rect">
            <a:avLst/>
          </a:prstGeom>
          <a:noFill/>
        </p:spPr>
        <p:txBody>
          <a:bodyPr wrap="square" anchor="t" lIns="0" rIns="0" tIns="0" bIns="0">
            <a:spAutoFit/>
          </a:bodyPr>
          <a:lstStyle/>
          <a:p>
            <a:pPr algn="ctr"/>
            <a:r>
              <a:rPr sz="1100" b="0" i="0">
                <a:solidFill>
                  <a:srgbClr val="5B7085"/>
                </a:solidFill>
                <a:latin typeface="Calibri"/>
              </a:rPr>
              <a:t>Contoh citra, mask, dan overlay (merah = minyak) per split dan sensor.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03 · PIPELINE</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Dari data mentah sampai aplikasi web</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Semua langkah ada di satu notebook Colab (GPU Tesla T4) dan bisa dijalankan ulang.</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4</a:t>
            </a:r>
          </a:p>
        </p:txBody>
      </p:sp>
      <p:pic>
        <p:nvPicPr>
          <p:cNvPr id="11" name="Picture 10" descr="pipeline.png"/>
          <p:cNvPicPr>
            <a:picLocks noChangeAspect="1"/>
          </p:cNvPicPr>
          <p:nvPr/>
        </p:nvPicPr>
        <p:blipFill>
          <a:blip r:embed="rId2"/>
          <a:stretch>
            <a:fillRect/>
          </a:stretch>
        </p:blipFill>
        <p:spPr>
          <a:xfrm>
            <a:off x="548640" y="2030015"/>
            <a:ext cx="11100816" cy="3758088"/>
          </a:xfrm>
          <a:prstGeom prst="rect">
            <a:avLst/>
          </a:prstGeom>
        </p:spPr>
      </p:pic>
      <p:sp>
        <p:nvSpPr>
          <p:cNvPr id="12" name="Rounded Rectangle 11"/>
          <p:cNvSpPr/>
          <p:nvPr/>
        </p:nvSpPr>
        <p:spPr>
          <a:xfrm>
            <a:off x="548640" y="5852160"/>
            <a:ext cx="11100816" cy="457200"/>
          </a:xfrm>
          <a:prstGeom prst="roundRect">
            <a:avLst>
              <a:gd name="adj" fmla="val 24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5879592"/>
            <a:ext cx="10698480" cy="411480"/>
          </a:xfrm>
          <a:prstGeom prst="rect">
            <a:avLst/>
          </a:prstGeom>
          <a:noFill/>
        </p:spPr>
        <p:txBody>
          <a:bodyPr wrap="square" anchor="ctr" lIns="0" rIns="0" tIns="0" bIns="0">
            <a:spAutoFit/>
          </a:bodyPr>
          <a:lstStyle/>
          <a:p>
            <a:pPr algn="l"/>
            <a:r>
              <a:rPr sz="1300" b="0" i="0">
                <a:solidFill>
                  <a:srgbClr val="0B2545"/>
                </a:solidFill>
                <a:latin typeface="Calibri"/>
              </a:rPr>
              <a:t>Preprocessing: z-score dari statistik latih · augmentasi 8 rotasi/flip + jitter kecerahan (hanya data latih) · threshold dipilih di validasi, bukan di data uji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04 · MODEL</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Dua keluarga model, satu protokol evaluasi</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Split, threshold (dari validasi), dan metrik yang sama untuk semua model.</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5</a:t>
            </a:r>
          </a:p>
        </p:txBody>
      </p:sp>
      <p:sp>
        <p:nvSpPr>
          <p:cNvPr id="11" name="Rounded Rectangle 10"/>
          <p:cNvSpPr/>
          <p:nvPr/>
        </p:nvSpPr>
        <p:spPr>
          <a:xfrm>
            <a:off x="548640" y="2057400"/>
            <a:ext cx="5440680" cy="4206240"/>
          </a:xfrm>
          <a:prstGeom prst="roundRect">
            <a:avLst>
              <a:gd name="adj" fmla="val 2608"/>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240280"/>
            <a:ext cx="4937760" cy="365760"/>
          </a:xfrm>
          <a:prstGeom prst="rect">
            <a:avLst/>
          </a:prstGeom>
          <a:noFill/>
        </p:spPr>
        <p:txBody>
          <a:bodyPr wrap="square" anchor="t" lIns="0" rIns="0" tIns="0" bIns="0">
            <a:spAutoFit/>
          </a:bodyPr>
          <a:lstStyle/>
          <a:p>
            <a:pPr algn="l"/>
            <a:r>
              <a:rPr sz="1300" b="1" i="0">
                <a:solidFill>
                  <a:srgbClr val="D97706"/>
                </a:solidFill>
                <a:latin typeface="Calibri"/>
              </a:rPr>
              <a:t>MACHINE LEARNING</a:t>
            </a:r>
          </a:p>
        </p:txBody>
      </p:sp>
      <p:sp>
        <p:nvSpPr>
          <p:cNvPr id="13" name="TextBox 12"/>
          <p:cNvSpPr txBox="1"/>
          <p:nvPr/>
        </p:nvSpPr>
        <p:spPr>
          <a:xfrm>
            <a:off x="822960" y="2606040"/>
            <a:ext cx="4937760" cy="457200"/>
          </a:xfrm>
          <a:prstGeom prst="rect">
            <a:avLst/>
          </a:prstGeom>
          <a:noFill/>
        </p:spPr>
        <p:txBody>
          <a:bodyPr wrap="square" anchor="t" lIns="0" rIns="0" tIns="0" bIns="0">
            <a:spAutoFit/>
          </a:bodyPr>
          <a:lstStyle/>
          <a:p>
            <a:pPr algn="l"/>
            <a:r>
              <a:rPr sz="2200" b="1" i="0">
                <a:solidFill>
                  <a:srgbClr val="0B2545"/>
                </a:solidFill>
                <a:latin typeface="Calibri"/>
              </a:rPr>
              <a:t>Random Forest &amp; LightGBM</a:t>
            </a:r>
          </a:p>
        </p:txBody>
      </p:sp>
      <p:sp>
        <p:nvSpPr>
          <p:cNvPr id="14" name="TextBox 13"/>
          <p:cNvSpPr txBox="1"/>
          <p:nvPr/>
        </p:nvSpPr>
        <p:spPr>
          <a:xfrm>
            <a:off x="822960" y="3246120"/>
            <a:ext cx="4937760" cy="3017520"/>
          </a:xfrm>
          <a:prstGeom prst="rect">
            <a:avLst/>
          </a:prstGeom>
          <a:noFill/>
        </p:spPr>
        <p:txBody>
          <a:bodyPr wrap="square" anchor="t" lIns="0" rIns="0" tIns="0" bIns="0">
            <a:spAutoFit/>
          </a:bodyPr>
          <a:lstStyle/>
          <a:p>
            <a:pPr algn="l">
              <a:spcAft>
                <a:spcPts val="800"/>
              </a:spcAft>
            </a:pPr>
            <a:r>
              <a:rPr sz="1700" b="0" i="0">
                <a:solidFill>
                  <a:srgbClr val="0B2545"/>
                </a:solidFill>
                <a:latin typeface="Calibri"/>
              </a:rPr>
              <a:t>Klasifikasi per piksel dari 13 fitur buatan tangan:</a:t>
            </a:r>
          </a:p>
          <a:p>
            <a:pPr algn="l">
              <a:spcAft>
                <a:spcPts val="800"/>
              </a:spcAft>
            </a:pPr>
            <a:r>
              <a:rPr sz="1700" b="0" i="0">
                <a:solidFill>
                  <a:srgbClr val="0B2545"/>
                </a:solidFill>
                <a:latin typeface="Calibri"/>
              </a:rPr>
              <a:t>• intensitas &amp; rata-rata lokal 5/11/21/41 piksel</a:t>
            </a:r>
          </a:p>
          <a:p>
            <a:pPr algn="l">
              <a:spcAft>
                <a:spcPts val="800"/>
              </a:spcAft>
            </a:pPr>
            <a:r>
              <a:rPr sz="1700" b="0" i="0">
                <a:solidFill>
                  <a:srgbClr val="0B2545"/>
                </a:solidFill>
                <a:latin typeface="Calibri"/>
              </a:rPr>
              <a:t>• simpangan baku lokal (tekstur), gradien Sobel (tepi)</a:t>
            </a:r>
          </a:p>
          <a:p>
            <a:pPr algn="l">
              <a:spcAft>
                <a:spcPts val="800"/>
              </a:spcAft>
            </a:pPr>
            <a:r>
              <a:rPr sz="1700" b="0" i="0">
                <a:solidFill>
                  <a:srgbClr val="0B2545"/>
                </a:solidFill>
                <a:latin typeface="Calibri"/>
              </a:rPr>
              <a:t>• kontras, selisih vs rata-rata citra, min/max lokal</a:t>
            </a:r>
          </a:p>
          <a:p>
            <a:pPr algn="l">
              <a:spcAft>
                <a:spcPts val="800"/>
              </a:spcAft>
            </a:pPr>
            <a:r>
              <a:rPr sz="1700" b="0" i="0">
                <a:solidFill>
                  <a:srgbClr val="0B2545"/>
                </a:solidFill>
                <a:latin typeface="Calibri"/>
              </a:rPr>
              <a:t>Latih 855.000 piksel sampel · RF 20 pohon, LightGBM 100 pohon · </a:t>
            </a:r>
            <a:r>
              <a:rPr sz="1700" b="1" i="0">
                <a:solidFill>
                  <a:srgbClr val="0B2545"/>
                </a:solidFill>
                <a:latin typeface="Calibri"/>
              </a:rPr>
              <a:t>0,24–1,8 MB</a:t>
            </a:r>
          </a:p>
        </p:txBody>
      </p:sp>
      <p:sp>
        <p:nvSpPr>
          <p:cNvPr id="15" name="Rounded Rectangle 14"/>
          <p:cNvSpPr/>
          <p:nvPr/>
        </p:nvSpPr>
        <p:spPr>
          <a:xfrm>
            <a:off x="6208776" y="2057400"/>
            <a:ext cx="5440680" cy="4206240"/>
          </a:xfrm>
          <a:prstGeom prst="roundRect">
            <a:avLst>
              <a:gd name="adj" fmla="val 260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83096" y="2240280"/>
            <a:ext cx="4937760" cy="365760"/>
          </a:xfrm>
          <a:prstGeom prst="rect">
            <a:avLst/>
          </a:prstGeom>
          <a:noFill/>
        </p:spPr>
        <p:txBody>
          <a:bodyPr wrap="square" anchor="t" lIns="0" rIns="0" tIns="0" bIns="0">
            <a:spAutoFit/>
          </a:bodyPr>
          <a:lstStyle/>
          <a:p>
            <a:pPr algn="l"/>
            <a:r>
              <a:rPr sz="1300" b="1" i="0">
                <a:solidFill>
                  <a:srgbClr val="7C3AED"/>
                </a:solidFill>
                <a:latin typeface="Calibri"/>
              </a:rPr>
              <a:t>DEEP LEARNING</a:t>
            </a:r>
          </a:p>
        </p:txBody>
      </p:sp>
      <p:sp>
        <p:nvSpPr>
          <p:cNvPr id="17" name="TextBox 16"/>
          <p:cNvSpPr txBox="1"/>
          <p:nvPr/>
        </p:nvSpPr>
        <p:spPr>
          <a:xfrm>
            <a:off x="6483096" y="2606040"/>
            <a:ext cx="4937760" cy="457200"/>
          </a:xfrm>
          <a:prstGeom prst="rect">
            <a:avLst/>
          </a:prstGeom>
          <a:noFill/>
        </p:spPr>
        <p:txBody>
          <a:bodyPr wrap="square" anchor="t" lIns="0" rIns="0" tIns="0" bIns="0">
            <a:spAutoFit/>
          </a:bodyPr>
          <a:lstStyle/>
          <a:p>
            <a:pPr algn="l"/>
            <a:r>
              <a:rPr sz="2200" b="1" i="0">
                <a:solidFill>
                  <a:srgbClr val="0B2545"/>
                </a:solidFill>
                <a:latin typeface="Calibri"/>
              </a:rPr>
              <a:t>U-Net Lite &amp; DeepLabV3+</a:t>
            </a:r>
          </a:p>
        </p:txBody>
      </p:sp>
      <p:sp>
        <p:nvSpPr>
          <p:cNvPr id="18" name="TextBox 17"/>
          <p:cNvSpPr txBox="1"/>
          <p:nvPr/>
        </p:nvSpPr>
        <p:spPr>
          <a:xfrm>
            <a:off x="6483096" y="3200400"/>
            <a:ext cx="4937760" cy="3017520"/>
          </a:xfrm>
          <a:prstGeom prst="rect">
            <a:avLst/>
          </a:prstGeom>
          <a:noFill/>
        </p:spPr>
        <p:txBody>
          <a:bodyPr wrap="square" anchor="t" lIns="0" rIns="0" tIns="0" bIns="0">
            <a:spAutoFit/>
          </a:bodyPr>
          <a:lstStyle/>
          <a:p>
            <a:pPr algn="l">
              <a:spcAft>
                <a:spcPts val="800"/>
              </a:spcAft>
            </a:pPr>
            <a:r>
              <a:rPr sz="1700" b="0" i="0">
                <a:solidFill>
                  <a:srgbClr val="0B2545"/>
                </a:solidFill>
                <a:latin typeface="Calibri"/>
              </a:rPr>
              <a:t>Belajar fitur sendiri dari citra:</a:t>
            </a:r>
          </a:p>
          <a:p>
            <a:pPr algn="l">
              <a:spcAft>
                <a:spcPts val="800"/>
              </a:spcAft>
            </a:pPr>
            <a:r>
              <a:rPr sz="1700" b="0" i="0">
                <a:solidFill>
                  <a:srgbClr val="0B2545"/>
                </a:solidFill>
                <a:latin typeface="Calibri"/>
              </a:rPr>
              <a:t>• U-Net Lite: 4 level, 1,94 juta parameter, dari nol</a:t>
            </a:r>
          </a:p>
          <a:p>
            <a:pPr algn="l">
              <a:spcAft>
                <a:spcPts val="800"/>
              </a:spcAft>
            </a:pPr>
            <a:r>
              <a:rPr sz="1700" b="0" i="0">
                <a:solidFill>
                  <a:srgbClr val="0B2545"/>
                </a:solidFill>
                <a:latin typeface="Calibri"/>
              </a:rPr>
              <a:t>• DeepLabV3+ MobileNetV2: 4,38 juta parameter, pralatih ImageNet (transfer learning)</a:t>
            </a:r>
          </a:p>
          <a:p>
            <a:pPr algn="l">
              <a:spcAft>
                <a:spcPts val="800"/>
              </a:spcAft>
            </a:pPr>
            <a:r>
              <a:rPr sz="1700" b="0" i="0">
                <a:solidFill>
                  <a:srgbClr val="0B2545"/>
                </a:solidFill>
                <a:latin typeface="Calibri"/>
              </a:rPr>
              <a:t>• Loss 0,5·BCE + 0,5·Dice, AdamW, 40 epoch, GPU T4</a:t>
            </a:r>
          </a:p>
          <a:p>
            <a:pPr algn="l">
              <a:spcAft>
                <a:spcPts val="800"/>
              </a:spcAft>
            </a:pPr>
            <a:r>
              <a:rPr sz="1700" b="1" i="0">
                <a:solidFill>
                  <a:srgbClr val="0B2545"/>
                </a:solidFill>
                <a:latin typeface="Calibri"/>
              </a:rPr>
              <a:t>Baseline: </a:t>
            </a:r>
            <a:r>
              <a:rPr sz="1700" b="0" i="0">
                <a:solidFill>
                  <a:srgbClr val="0B2545"/>
                </a:solidFill>
                <a:latin typeface="Calibri"/>
              </a:rPr>
              <a:t>dark-spot thresholding (blur 7×7, intensitas &lt; 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05 · EVALUASI</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Deep Learning unggul 5–6 poin Dice atas Machine Learning</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Set uji Sentinel-1 (839 citra), agregasi piksel global. Dice = F1 piksel.</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6</a:t>
            </a:r>
          </a:p>
        </p:txBody>
      </p:sp>
      <p:graphicFrame>
        <p:nvGraphicFramePr>
          <p:cNvPr id="11" name="Chart 10"/>
          <p:cNvGraphicFramePr>
            <a:graphicFrameLocks noGrp="1"/>
          </p:cNvGraphicFramePr>
          <p:nvPr/>
        </p:nvGraphicFramePr>
        <p:xfrm>
          <a:off x="457200" y="1965960"/>
          <a:ext cx="6949440" cy="4343400"/>
        </p:xfrm>
        <a:graphic>
          <a:graphicData uri="http://schemas.openxmlformats.org/drawingml/2006/chart">
            <c:chart xmlns:c="http://schemas.openxmlformats.org/drawingml/2006/chart" r:id="rId2"/>
          </a:graphicData>
        </a:graphic>
      </p:graphicFrame>
      <p:sp>
        <p:nvSpPr>
          <p:cNvPr id="12" name="Rounded Rectangle 11"/>
          <p:cNvSpPr/>
          <p:nvPr/>
        </p:nvSpPr>
        <p:spPr>
          <a:xfrm>
            <a:off x="7726679" y="2057400"/>
            <a:ext cx="3931920" cy="4206240"/>
          </a:xfrm>
          <a:prstGeom prst="roundRect">
            <a:avLst>
              <a:gd name="adj" fmla="val 279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01000" y="2240280"/>
            <a:ext cx="3474720" cy="365760"/>
          </a:xfrm>
          <a:prstGeom prst="rect">
            <a:avLst/>
          </a:prstGeom>
          <a:noFill/>
        </p:spPr>
        <p:txBody>
          <a:bodyPr wrap="square" anchor="t" lIns="0" rIns="0" tIns="0" bIns="0">
            <a:spAutoFit/>
          </a:bodyPr>
          <a:lstStyle/>
          <a:p>
            <a:pPr algn="l"/>
            <a:r>
              <a:rPr sz="1500" b="1" i="0">
                <a:solidFill>
                  <a:srgbClr val="7C3AED"/>
                </a:solidFill>
                <a:latin typeface="Calibri"/>
              </a:rPr>
              <a:t>DeepLabV3+ (terbaik)</a:t>
            </a:r>
          </a:p>
        </p:txBody>
      </p:sp>
      <p:sp>
        <p:nvSpPr>
          <p:cNvPr id="14" name="TextBox 13"/>
          <p:cNvSpPr txBox="1"/>
          <p:nvPr/>
        </p:nvSpPr>
        <p:spPr>
          <a:xfrm>
            <a:off x="8001000" y="2606040"/>
            <a:ext cx="1737360" cy="685800"/>
          </a:xfrm>
          <a:prstGeom prst="rect">
            <a:avLst/>
          </a:prstGeom>
          <a:noFill/>
        </p:spPr>
        <p:txBody>
          <a:bodyPr wrap="square" anchor="t" lIns="0" rIns="0" tIns="0" bIns="0">
            <a:spAutoFit/>
          </a:bodyPr>
          <a:lstStyle/>
          <a:p>
            <a:pPr algn="l"/>
            <a:r>
              <a:rPr sz="3400" b="1" i="0">
                <a:solidFill>
                  <a:srgbClr val="7C3AED"/>
                </a:solidFill>
                <a:latin typeface="Calibri"/>
              </a:rPr>
              <a:t>0,867</a:t>
            </a:r>
          </a:p>
        </p:txBody>
      </p:sp>
      <p:sp>
        <p:nvSpPr>
          <p:cNvPr id="15" name="TextBox 14"/>
          <p:cNvSpPr txBox="1"/>
          <p:nvPr/>
        </p:nvSpPr>
        <p:spPr>
          <a:xfrm>
            <a:off x="8001000" y="3319272"/>
            <a:ext cx="1737360" cy="548640"/>
          </a:xfrm>
          <a:prstGeom prst="rect">
            <a:avLst/>
          </a:prstGeom>
          <a:noFill/>
        </p:spPr>
        <p:txBody>
          <a:bodyPr wrap="square" anchor="t" lIns="0" rIns="0" tIns="0" bIns="0">
            <a:spAutoFit/>
          </a:bodyPr>
          <a:lstStyle/>
          <a:p>
            <a:pPr algn="l"/>
            <a:r>
              <a:rPr sz="1250" b="0" i="0">
                <a:solidFill>
                  <a:srgbClr val="5B7085"/>
                </a:solidFill>
                <a:latin typeface="Calibri"/>
              </a:rPr>
              <a:t>Dice / F1</a:t>
            </a:r>
          </a:p>
        </p:txBody>
      </p:sp>
      <p:sp>
        <p:nvSpPr>
          <p:cNvPr id="16" name="TextBox 15"/>
          <p:cNvSpPr txBox="1"/>
          <p:nvPr/>
        </p:nvSpPr>
        <p:spPr>
          <a:xfrm>
            <a:off x="9829800" y="2606040"/>
            <a:ext cx="1737360" cy="685800"/>
          </a:xfrm>
          <a:prstGeom prst="rect">
            <a:avLst/>
          </a:prstGeom>
          <a:noFill/>
        </p:spPr>
        <p:txBody>
          <a:bodyPr wrap="square" anchor="t" lIns="0" rIns="0" tIns="0" bIns="0">
            <a:spAutoFit/>
          </a:bodyPr>
          <a:lstStyle/>
          <a:p>
            <a:pPr algn="l"/>
            <a:r>
              <a:rPr sz="3400" b="1" i="0">
                <a:solidFill>
                  <a:srgbClr val="0B2545"/>
                </a:solidFill>
                <a:latin typeface="Calibri"/>
              </a:rPr>
              <a:t>0,765</a:t>
            </a:r>
          </a:p>
        </p:txBody>
      </p:sp>
      <p:sp>
        <p:nvSpPr>
          <p:cNvPr id="17" name="TextBox 16"/>
          <p:cNvSpPr txBox="1"/>
          <p:nvPr/>
        </p:nvSpPr>
        <p:spPr>
          <a:xfrm>
            <a:off x="9829800" y="3319272"/>
            <a:ext cx="1737360" cy="548640"/>
          </a:xfrm>
          <a:prstGeom prst="rect">
            <a:avLst/>
          </a:prstGeom>
          <a:noFill/>
        </p:spPr>
        <p:txBody>
          <a:bodyPr wrap="square" anchor="t" lIns="0" rIns="0" tIns="0" bIns="0">
            <a:spAutoFit/>
          </a:bodyPr>
          <a:lstStyle/>
          <a:p>
            <a:pPr algn="l"/>
            <a:r>
              <a:rPr sz="1250" b="0" i="0">
                <a:solidFill>
                  <a:srgbClr val="5B7085"/>
                </a:solidFill>
                <a:latin typeface="Calibri"/>
              </a:rPr>
              <a:t>IoU</a:t>
            </a:r>
          </a:p>
        </p:txBody>
      </p:sp>
      <p:sp>
        <p:nvSpPr>
          <p:cNvPr id="18" name="TextBox 17"/>
          <p:cNvSpPr txBox="1"/>
          <p:nvPr/>
        </p:nvSpPr>
        <p:spPr>
          <a:xfrm>
            <a:off x="8001000" y="3749039"/>
            <a:ext cx="1737360" cy="685800"/>
          </a:xfrm>
          <a:prstGeom prst="rect">
            <a:avLst/>
          </a:prstGeom>
          <a:noFill/>
        </p:spPr>
        <p:txBody>
          <a:bodyPr wrap="square" anchor="t" lIns="0" rIns="0" tIns="0" bIns="0">
            <a:spAutoFit/>
          </a:bodyPr>
          <a:lstStyle/>
          <a:p>
            <a:pPr algn="l"/>
            <a:r>
              <a:rPr sz="3400" b="1" i="0">
                <a:solidFill>
                  <a:srgbClr val="0B2545"/>
                </a:solidFill>
                <a:latin typeface="Calibri"/>
              </a:rPr>
              <a:t>0,834</a:t>
            </a:r>
          </a:p>
        </p:txBody>
      </p:sp>
      <p:sp>
        <p:nvSpPr>
          <p:cNvPr id="19" name="TextBox 18"/>
          <p:cNvSpPr txBox="1"/>
          <p:nvPr/>
        </p:nvSpPr>
        <p:spPr>
          <a:xfrm>
            <a:off x="8001000" y="4462272"/>
            <a:ext cx="1737360" cy="548640"/>
          </a:xfrm>
          <a:prstGeom prst="rect">
            <a:avLst/>
          </a:prstGeom>
          <a:noFill/>
        </p:spPr>
        <p:txBody>
          <a:bodyPr wrap="square" anchor="t" lIns="0" rIns="0" tIns="0" bIns="0">
            <a:spAutoFit/>
          </a:bodyPr>
          <a:lstStyle/>
          <a:p>
            <a:pPr algn="l"/>
            <a:r>
              <a:rPr sz="1250" b="0" i="0">
                <a:solidFill>
                  <a:srgbClr val="5B7085"/>
                </a:solidFill>
                <a:latin typeface="Calibri"/>
              </a:rPr>
              <a:t>Precision</a:t>
            </a:r>
          </a:p>
        </p:txBody>
      </p:sp>
      <p:sp>
        <p:nvSpPr>
          <p:cNvPr id="20" name="TextBox 19"/>
          <p:cNvSpPr txBox="1"/>
          <p:nvPr/>
        </p:nvSpPr>
        <p:spPr>
          <a:xfrm>
            <a:off x="9829800" y="3749039"/>
            <a:ext cx="1737360" cy="685800"/>
          </a:xfrm>
          <a:prstGeom prst="rect">
            <a:avLst/>
          </a:prstGeom>
          <a:noFill/>
        </p:spPr>
        <p:txBody>
          <a:bodyPr wrap="square" anchor="t" lIns="0" rIns="0" tIns="0" bIns="0">
            <a:spAutoFit/>
          </a:bodyPr>
          <a:lstStyle/>
          <a:p>
            <a:pPr algn="l"/>
            <a:r>
              <a:rPr sz="3400" b="1" i="0">
                <a:solidFill>
                  <a:srgbClr val="0B2545"/>
                </a:solidFill>
                <a:latin typeface="Calibri"/>
              </a:rPr>
              <a:t>0,902</a:t>
            </a:r>
          </a:p>
        </p:txBody>
      </p:sp>
      <p:sp>
        <p:nvSpPr>
          <p:cNvPr id="21" name="TextBox 20"/>
          <p:cNvSpPr txBox="1"/>
          <p:nvPr/>
        </p:nvSpPr>
        <p:spPr>
          <a:xfrm>
            <a:off x="9829800" y="4462272"/>
            <a:ext cx="1737360" cy="548640"/>
          </a:xfrm>
          <a:prstGeom prst="rect">
            <a:avLst/>
          </a:prstGeom>
          <a:noFill/>
        </p:spPr>
        <p:txBody>
          <a:bodyPr wrap="square" anchor="t" lIns="0" rIns="0" tIns="0" bIns="0">
            <a:spAutoFit/>
          </a:bodyPr>
          <a:lstStyle/>
          <a:p>
            <a:pPr algn="l"/>
            <a:r>
              <a:rPr sz="1250" b="0" i="0">
                <a:solidFill>
                  <a:srgbClr val="5B7085"/>
                </a:solidFill>
                <a:latin typeface="Calibri"/>
              </a:rPr>
              <a:t>Recall</a:t>
            </a:r>
          </a:p>
        </p:txBody>
      </p:sp>
      <p:sp>
        <p:nvSpPr>
          <p:cNvPr id="22" name="TextBox 21"/>
          <p:cNvSpPr txBox="1"/>
          <p:nvPr/>
        </p:nvSpPr>
        <p:spPr>
          <a:xfrm>
            <a:off x="8001000" y="4937760"/>
            <a:ext cx="3474720" cy="1234440"/>
          </a:xfrm>
          <a:prstGeom prst="rect">
            <a:avLst/>
          </a:prstGeom>
          <a:noFill/>
        </p:spPr>
        <p:txBody>
          <a:bodyPr wrap="square" anchor="t" lIns="0" rIns="0" tIns="0" bIns="0">
            <a:spAutoFit/>
          </a:bodyPr>
          <a:lstStyle/>
          <a:p>
            <a:pPr algn="l"/>
            <a:r>
              <a:rPr sz="1250" b="0" i="0">
                <a:solidFill>
                  <a:srgbClr val="0B2545"/>
                </a:solidFill>
                <a:latin typeface="Calibri"/>
              </a:rPr>
              <a:t>Selisih F1 dengan CBD-Net (state of the art dataset SOS, 87,87%) tinggal 1,1 poin. DL unggul terutama di precision: lebih sedikit look-alike yang ikut ditandai.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06 · ANALISIS HASIL</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Apa yang dilihat tiap model?</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Citra uji mudah, tipikal, sulit, dan tanpa minyak (merah = prediksi minyak).</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7</a:t>
            </a:r>
          </a:p>
        </p:txBody>
      </p:sp>
      <p:pic>
        <p:nvPicPr>
          <p:cNvPr id="11" name="Picture 10" descr="model_predictions_side_by_side.png"/>
          <p:cNvPicPr>
            <a:picLocks noChangeAspect="1"/>
          </p:cNvPicPr>
          <p:nvPr/>
        </p:nvPicPr>
        <p:blipFill>
          <a:blip r:embed="rId2"/>
          <a:stretch>
            <a:fillRect/>
          </a:stretch>
        </p:blipFill>
        <p:spPr>
          <a:xfrm>
            <a:off x="522222" y="1920240"/>
            <a:ext cx="7459474" cy="4663440"/>
          </a:xfrm>
          <a:prstGeom prst="rect">
            <a:avLst/>
          </a:prstGeom>
        </p:spPr>
      </p:pic>
      <p:sp>
        <p:nvSpPr>
          <p:cNvPr id="12" name="Rounded Rectangle 11"/>
          <p:cNvSpPr/>
          <p:nvPr/>
        </p:nvSpPr>
        <p:spPr>
          <a:xfrm>
            <a:off x="8321040" y="2011680"/>
            <a:ext cx="3337560" cy="1371600"/>
          </a:xfrm>
          <a:prstGeom prst="roundRect">
            <a:avLst>
              <a:gd name="adj" fmla="val 8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549640" y="225856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2194560"/>
            <a:ext cx="2606039" cy="365760"/>
          </a:xfrm>
          <a:prstGeom prst="rect">
            <a:avLst/>
          </a:prstGeom>
          <a:noFill/>
        </p:spPr>
        <p:txBody>
          <a:bodyPr wrap="square" anchor="t" lIns="0" rIns="0" tIns="0" bIns="0">
            <a:spAutoFit/>
          </a:bodyPr>
          <a:lstStyle/>
          <a:p>
            <a:pPr algn="l"/>
            <a:r>
              <a:rPr sz="1500" b="1" i="0">
                <a:solidFill>
                  <a:srgbClr val="0B2545"/>
                </a:solidFill>
                <a:latin typeface="Calibri"/>
              </a:rPr>
              <a:t>Fitur terpenting ML</a:t>
            </a:r>
          </a:p>
        </p:txBody>
      </p:sp>
      <p:sp>
        <p:nvSpPr>
          <p:cNvPr id="15" name="TextBox 14"/>
          <p:cNvSpPr txBox="1"/>
          <p:nvPr/>
        </p:nvSpPr>
        <p:spPr>
          <a:xfrm>
            <a:off x="8549640" y="2651760"/>
            <a:ext cx="2880360" cy="594360"/>
          </a:xfrm>
          <a:prstGeom prst="rect">
            <a:avLst/>
          </a:prstGeom>
          <a:noFill/>
        </p:spPr>
        <p:txBody>
          <a:bodyPr wrap="square" anchor="t" lIns="0" rIns="0" tIns="0" bIns="0">
            <a:spAutoFit/>
          </a:bodyPr>
          <a:lstStyle/>
          <a:p>
            <a:pPr algn="l">
              <a:spcAft>
                <a:spcPts val="400"/>
              </a:spcAft>
            </a:pPr>
            <a:r>
              <a:rPr sz="1250" b="0" i="0">
                <a:solidFill>
                  <a:srgbClr val="0B2545"/>
                </a:solidFill>
                <a:latin typeface="Calibri"/>
              </a:rPr>
              <a:t>minimum &amp; rata-rata lokal 11 px, selisih vs rata-rata citra → kegelapan relatif.</a:t>
            </a:r>
          </a:p>
        </p:txBody>
      </p:sp>
      <p:sp>
        <p:nvSpPr>
          <p:cNvPr id="16" name="Rounded Rectangle 15"/>
          <p:cNvSpPr/>
          <p:nvPr/>
        </p:nvSpPr>
        <p:spPr>
          <a:xfrm>
            <a:off x="8321040" y="3520440"/>
            <a:ext cx="3337560" cy="1371600"/>
          </a:xfrm>
          <a:prstGeom prst="roundRect">
            <a:avLst>
              <a:gd name="adj" fmla="val 8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549640" y="3767328"/>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3703320"/>
            <a:ext cx="2606039" cy="365760"/>
          </a:xfrm>
          <a:prstGeom prst="rect">
            <a:avLst/>
          </a:prstGeom>
          <a:noFill/>
        </p:spPr>
        <p:txBody>
          <a:bodyPr wrap="square" anchor="t" lIns="0" rIns="0" tIns="0" bIns="0">
            <a:spAutoFit/>
          </a:bodyPr>
          <a:lstStyle/>
          <a:p>
            <a:pPr algn="l"/>
            <a:r>
              <a:rPr sz="1500" b="1" i="0">
                <a:solidFill>
                  <a:srgbClr val="0B2545"/>
                </a:solidFill>
                <a:latin typeface="Calibri"/>
              </a:rPr>
              <a:t>Error utama</a:t>
            </a:r>
          </a:p>
        </p:txBody>
      </p:sp>
      <p:sp>
        <p:nvSpPr>
          <p:cNvPr id="19" name="TextBox 18"/>
          <p:cNvSpPr txBox="1"/>
          <p:nvPr/>
        </p:nvSpPr>
        <p:spPr>
          <a:xfrm>
            <a:off x="8549640" y="4160520"/>
            <a:ext cx="2880360" cy="594360"/>
          </a:xfrm>
          <a:prstGeom prst="rect">
            <a:avLst/>
          </a:prstGeom>
          <a:noFill/>
        </p:spPr>
        <p:txBody>
          <a:bodyPr wrap="square" anchor="t" lIns="0" rIns="0" tIns="0" bIns="0">
            <a:spAutoFit/>
          </a:bodyPr>
          <a:lstStyle/>
          <a:p>
            <a:pPr algn="l">
              <a:spcAft>
                <a:spcPts val="400"/>
              </a:spcAft>
            </a:pPr>
            <a:r>
              <a:rPr sz="1250" b="0" i="0">
                <a:solidFill>
                  <a:srgbClr val="0B2545"/>
                </a:solidFill>
                <a:latin typeface="Calibri"/>
              </a:rPr>
              <a:t>slick sangat kecil, garis gelap tipis tak berlabel, dan batas slick yang melebar.</a:t>
            </a:r>
          </a:p>
        </p:txBody>
      </p:sp>
      <p:sp>
        <p:nvSpPr>
          <p:cNvPr id="20" name="Rounded Rectangle 19"/>
          <p:cNvSpPr/>
          <p:nvPr/>
        </p:nvSpPr>
        <p:spPr>
          <a:xfrm>
            <a:off x="8321040" y="5029200"/>
            <a:ext cx="3337560" cy="1371600"/>
          </a:xfrm>
          <a:prstGeom prst="roundRect">
            <a:avLst>
              <a:gd name="adj" fmla="val 8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549640" y="5276088"/>
            <a:ext cx="201168" cy="20116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5212080"/>
            <a:ext cx="2606039" cy="365760"/>
          </a:xfrm>
          <a:prstGeom prst="rect">
            <a:avLst/>
          </a:prstGeom>
          <a:noFill/>
        </p:spPr>
        <p:txBody>
          <a:bodyPr wrap="square" anchor="t" lIns="0" rIns="0" tIns="0" bIns="0">
            <a:spAutoFit/>
          </a:bodyPr>
          <a:lstStyle/>
          <a:p>
            <a:pPr algn="l"/>
            <a:r>
              <a:rPr sz="1500" b="1" i="0">
                <a:solidFill>
                  <a:srgbClr val="0B2545"/>
                </a:solidFill>
                <a:latin typeface="Calibri"/>
              </a:rPr>
              <a:t>Per citra bervariasi</a:t>
            </a:r>
          </a:p>
        </p:txBody>
      </p:sp>
      <p:sp>
        <p:nvSpPr>
          <p:cNvPr id="23" name="TextBox 22"/>
          <p:cNvSpPr txBox="1"/>
          <p:nvPr/>
        </p:nvSpPr>
        <p:spPr>
          <a:xfrm>
            <a:off x="8549640" y="5669280"/>
            <a:ext cx="2880360" cy="594360"/>
          </a:xfrm>
          <a:prstGeom prst="rect">
            <a:avLst/>
          </a:prstGeom>
          <a:noFill/>
        </p:spPr>
        <p:txBody>
          <a:bodyPr wrap="square" anchor="t" lIns="0" rIns="0" tIns="0" bIns="0">
            <a:spAutoFit/>
          </a:bodyPr>
          <a:lstStyle/>
          <a:p>
            <a:pPr algn="l">
              <a:spcAft>
                <a:spcPts val="400"/>
              </a:spcAft>
            </a:pPr>
            <a:r>
              <a:rPr sz="1250" b="0" i="0">
                <a:solidFill>
                  <a:srgbClr val="0B2545"/>
                </a:solidFill>
                <a:latin typeface="Calibri"/>
              </a:rPr>
              <a:t>kadang ML lebih baik di citra sulit → web punya mode "bandingkan semua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07 · DEPLOYMENT · EDGE AI</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Semua model berjalan di browser, tanpa server GPU</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ONNX + kuantisasi INT8 → onnxruntime-web (WebAssembly multi-thread) di Vercel.</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8</a:t>
            </a:r>
          </a:p>
        </p:txBody>
      </p:sp>
      <p:sp>
        <p:nvSpPr>
          <p:cNvPr id="11" name="Rounded Rectangle 10"/>
          <p:cNvSpPr/>
          <p:nvPr/>
        </p:nvSpPr>
        <p:spPr>
          <a:xfrm>
            <a:off x="548640" y="2057400"/>
            <a:ext cx="2377440" cy="1051560"/>
          </a:xfrm>
          <a:prstGeom prst="roundRect">
            <a:avLst>
              <a:gd name="adj" fmla="val 10434"/>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057400"/>
            <a:ext cx="2377440" cy="1051560"/>
          </a:xfrm>
          <a:prstGeom prst="rect">
            <a:avLst/>
          </a:prstGeom>
          <a:noFill/>
        </p:spPr>
        <p:txBody>
          <a:bodyPr wrap="square" anchor="ctr" lIns="0" rIns="0" tIns="0" bIns="0">
            <a:spAutoFit/>
          </a:bodyPr>
          <a:lstStyle/>
          <a:p>
            <a:pPr algn="ctr"/>
            <a:r>
              <a:rPr sz="1500" b="1" i="0">
                <a:solidFill>
                  <a:srgbClr val="0B2545"/>
                </a:solidFill>
                <a:latin typeface="Calibri"/>
              </a:rPr>
              <a:t>PyTorch /
scikit-learn</a:t>
            </a:r>
          </a:p>
        </p:txBody>
      </p:sp>
      <p:sp>
        <p:nvSpPr>
          <p:cNvPr id="13" name="Right Arrow 12"/>
          <p:cNvSpPr/>
          <p:nvPr/>
        </p:nvSpPr>
        <p:spPr>
          <a:xfrm>
            <a:off x="2999232" y="2441448"/>
            <a:ext cx="320040" cy="292608"/>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80" y="2057400"/>
            <a:ext cx="2377440" cy="1051560"/>
          </a:xfrm>
          <a:prstGeom prst="roundRect">
            <a:avLst>
              <a:gd name="adj" fmla="val 10434"/>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83280" y="2057400"/>
            <a:ext cx="2377440" cy="1051560"/>
          </a:xfrm>
          <a:prstGeom prst="rect">
            <a:avLst/>
          </a:prstGeom>
          <a:noFill/>
        </p:spPr>
        <p:txBody>
          <a:bodyPr wrap="square" anchor="ctr" lIns="0" rIns="0" tIns="0" bIns="0">
            <a:spAutoFit/>
          </a:bodyPr>
          <a:lstStyle/>
          <a:p>
            <a:pPr algn="ctr"/>
            <a:r>
              <a:rPr sz="1500" b="1" i="0">
                <a:solidFill>
                  <a:srgbClr val="0B2545"/>
                </a:solidFill>
                <a:latin typeface="Calibri"/>
              </a:rPr>
              <a:t>ONNX
(fitur + model)</a:t>
            </a:r>
          </a:p>
        </p:txBody>
      </p:sp>
      <p:sp>
        <p:nvSpPr>
          <p:cNvPr id="16" name="Right Arrow 15"/>
          <p:cNvSpPr/>
          <p:nvPr/>
        </p:nvSpPr>
        <p:spPr>
          <a:xfrm>
            <a:off x="5833872" y="2441448"/>
            <a:ext cx="320040" cy="292608"/>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2057400"/>
            <a:ext cx="2377440" cy="1051560"/>
          </a:xfrm>
          <a:prstGeom prst="roundRect">
            <a:avLst>
              <a:gd name="adj" fmla="val 10434"/>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2057400"/>
            <a:ext cx="2377440" cy="1051560"/>
          </a:xfrm>
          <a:prstGeom prst="rect">
            <a:avLst/>
          </a:prstGeom>
          <a:noFill/>
        </p:spPr>
        <p:txBody>
          <a:bodyPr wrap="square" anchor="ctr" lIns="0" rIns="0" tIns="0" bIns="0">
            <a:spAutoFit/>
          </a:bodyPr>
          <a:lstStyle/>
          <a:p>
            <a:pPr algn="ctr"/>
            <a:r>
              <a:rPr sz="1500" b="1" i="0">
                <a:solidFill>
                  <a:srgbClr val="0B2545"/>
                </a:solidFill>
                <a:latin typeface="Calibri"/>
              </a:rPr>
              <a:t>INT8 QDQ
(model DL)</a:t>
            </a:r>
          </a:p>
        </p:txBody>
      </p:sp>
      <p:sp>
        <p:nvSpPr>
          <p:cNvPr id="19" name="Right Arrow 18"/>
          <p:cNvSpPr/>
          <p:nvPr/>
        </p:nvSpPr>
        <p:spPr>
          <a:xfrm>
            <a:off x="8668512" y="2441448"/>
            <a:ext cx="320040" cy="292608"/>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2057400"/>
            <a:ext cx="2377440" cy="1051560"/>
          </a:xfrm>
          <a:prstGeom prst="roundRect">
            <a:avLst>
              <a:gd name="adj" fmla="val 10434"/>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52560" y="2057400"/>
            <a:ext cx="2377440" cy="1051560"/>
          </a:xfrm>
          <a:prstGeom prst="rect">
            <a:avLst/>
          </a:prstGeom>
          <a:noFill/>
        </p:spPr>
        <p:txBody>
          <a:bodyPr wrap="square" anchor="ctr" lIns="0" rIns="0" tIns="0" bIns="0">
            <a:spAutoFit/>
          </a:bodyPr>
          <a:lstStyle/>
          <a:p>
            <a:pPr algn="ctr"/>
            <a:r>
              <a:rPr sz="1500" b="1" i="0">
                <a:solidFill>
                  <a:srgbClr val="0B2545"/>
                </a:solidFill>
                <a:latin typeface="Calibri"/>
              </a:rPr>
              <a:t>Vercel +
onnxruntime-web</a:t>
            </a:r>
          </a:p>
        </p:txBody>
      </p:sp>
      <p:graphicFrame>
        <p:nvGraphicFramePr>
          <p:cNvPr id="22" name="Table 21"/>
          <p:cNvGraphicFramePr>
            <a:graphicFrameLocks noGrp="1"/>
          </p:cNvGraphicFramePr>
          <p:nvPr/>
        </p:nvGraphicFramePr>
        <p:xfrm>
          <a:off x="548640" y="3429000"/>
          <a:ext cx="6766560" cy="2743200"/>
        </p:xfrm>
        <a:graphic>
          <a:graphicData uri="http://schemas.openxmlformats.org/drawingml/2006/table">
            <a:tbl>
              <a:tblPr firstRow="1" bandRow="1">
                <a:tableStyleId>{5C22544A-7EE6-4342-B048-85BDC9FD1C3A}</a:tableStyleId>
              </a:tblPr>
              <a:tblGrid>
                <a:gridCol w="2651760"/>
                <a:gridCol w="1371600"/>
                <a:gridCol w="1280160"/>
                <a:gridCol w="1463040"/>
              </a:tblGrid>
              <a:tr h="457200">
                <a:tc>
                  <a:txBody>
                    <a:bodyPr/>
                    <a:lstStyle/>
                    <a:p>
                      <a:pPr algn="l"/>
                      <a:r>
                        <a:rPr sz="1300" b="1">
                          <a:solidFill>
                            <a:srgbClr val="FFFFFF"/>
                          </a:solidFill>
                          <a:latin typeface="Calibri"/>
                        </a:rPr>
                        <a:t>Model (varian web)</a:t>
                      </a:r>
                    </a:p>
                  </a:txBody>
                  <a:tcPr marL="91440" marR="91440">
                    <a:solidFill>
                      <a:srgbClr val="0E7490"/>
                    </a:solidFill>
                  </a:tcPr>
                </a:tc>
                <a:tc>
                  <a:txBody>
                    <a:bodyPr/>
                    <a:lstStyle/>
                    <a:p>
                      <a:pPr algn="ctr"/>
                      <a:r>
                        <a:rPr sz="1300" b="1">
                          <a:solidFill>
                            <a:srgbClr val="FFFFFF"/>
                          </a:solidFill>
                          <a:latin typeface="Calibri"/>
                        </a:rPr>
                        <a:t>Ukuran</a:t>
                      </a:r>
                    </a:p>
                  </a:txBody>
                  <a:tcPr marL="91440" marR="91440">
                    <a:solidFill>
                      <a:srgbClr val="0E7490"/>
                    </a:solidFill>
                  </a:tcPr>
                </a:tc>
                <a:tc>
                  <a:txBody>
                    <a:bodyPr/>
                    <a:lstStyle/>
                    <a:p>
                      <a:pPr algn="ctr"/>
                      <a:r>
                        <a:rPr sz="1300" b="1">
                          <a:solidFill>
                            <a:srgbClr val="FFFFFF"/>
                          </a:solidFill>
                          <a:latin typeface="Calibri"/>
                        </a:rPr>
                        <a:t>Dice uji</a:t>
                      </a:r>
                    </a:p>
                  </a:txBody>
                  <a:tcPr marL="91440" marR="91440">
                    <a:solidFill>
                      <a:srgbClr val="0E7490"/>
                    </a:solidFill>
                  </a:tcPr>
                </a:tc>
                <a:tc>
                  <a:txBody>
                    <a:bodyPr/>
                    <a:lstStyle/>
                    <a:p>
                      <a:pPr algn="ctr"/>
                      <a:r>
                        <a:rPr sz="1300" b="1">
                          <a:solidFill>
                            <a:srgbClr val="FFFFFF"/>
                          </a:solidFill>
                          <a:latin typeface="Calibri"/>
                        </a:rPr>
                        <a:t>CPU 1 thread</a:t>
                      </a:r>
                    </a:p>
                  </a:txBody>
                  <a:tcPr marL="91440" marR="91440">
                    <a:solidFill>
                      <a:srgbClr val="0E7490"/>
                    </a:solidFill>
                  </a:tcPr>
                </a:tc>
              </a:tr>
              <a:tr h="457200">
                <a:tc>
                  <a:txBody>
                    <a:bodyPr/>
                    <a:lstStyle/>
                    <a:p>
                      <a:pPr algn="l"/>
                      <a:r>
                        <a:rPr sz="1300" b="0">
                          <a:solidFill>
                            <a:srgbClr val="0B2545"/>
                          </a:solidFill>
                          <a:latin typeface="Calibri"/>
                        </a:rPr>
                        <a:t>Dark-spot</a:t>
                      </a:r>
                    </a:p>
                  </a:txBody>
                  <a:tcPr marL="91440" marR="91440">
                    <a:solidFill>
                      <a:srgbClr val="FFFFFF"/>
                    </a:solidFill>
                  </a:tcPr>
                </a:tc>
                <a:tc>
                  <a:txBody>
                    <a:bodyPr/>
                    <a:lstStyle/>
                    <a:p>
                      <a:pPr algn="ctr"/>
                      <a:r>
                        <a:rPr sz="1300" b="0">
                          <a:solidFill>
                            <a:srgbClr val="0B2545"/>
                          </a:solidFill>
                          <a:latin typeface="Calibri"/>
                        </a:rPr>
                        <a:t>&lt;0,1 MB</a:t>
                      </a:r>
                    </a:p>
                  </a:txBody>
                  <a:tcPr marL="91440" marR="91440">
                    <a:solidFill>
                      <a:srgbClr val="FFFFFF"/>
                    </a:solidFill>
                  </a:tcPr>
                </a:tc>
                <a:tc>
                  <a:txBody>
                    <a:bodyPr/>
                    <a:lstStyle/>
                    <a:p>
                      <a:pPr algn="ctr"/>
                      <a:r>
                        <a:rPr sz="1300" b="0">
                          <a:solidFill>
                            <a:srgbClr val="0B2545"/>
                          </a:solidFill>
                          <a:latin typeface="Calibri"/>
                        </a:rPr>
                        <a:t>0,726</a:t>
                      </a:r>
                    </a:p>
                  </a:txBody>
                  <a:tcPr marL="91440" marR="91440">
                    <a:solidFill>
                      <a:srgbClr val="FFFFFF"/>
                    </a:solidFill>
                  </a:tcPr>
                </a:tc>
                <a:tc>
                  <a:txBody>
                    <a:bodyPr/>
                    <a:lstStyle/>
                    <a:p>
                      <a:pPr algn="ctr"/>
                      <a:r>
                        <a:rPr sz="1300" b="0">
                          <a:solidFill>
                            <a:srgbClr val="0B2545"/>
                          </a:solidFill>
                          <a:latin typeface="Calibri"/>
                        </a:rPr>
                        <a:t>&lt;1 ms</a:t>
                      </a:r>
                    </a:p>
                  </a:txBody>
                  <a:tcPr marL="91440" marR="91440">
                    <a:solidFill>
                      <a:srgbClr val="FFFFFF"/>
                    </a:solidFill>
                  </a:tcPr>
                </a:tc>
              </a:tr>
              <a:tr h="457200">
                <a:tc>
                  <a:txBody>
                    <a:bodyPr/>
                    <a:lstStyle/>
                    <a:p>
                      <a:pPr algn="l"/>
                      <a:r>
                        <a:rPr sz="1300" b="0">
                          <a:solidFill>
                            <a:srgbClr val="0B2545"/>
                          </a:solidFill>
                          <a:latin typeface="Calibri"/>
                        </a:rPr>
                        <a:t>Random Forest</a:t>
                      </a:r>
                    </a:p>
                  </a:txBody>
                  <a:tcPr marL="91440" marR="91440">
                    <a:solidFill>
                      <a:srgbClr val="EEF7FB"/>
                    </a:solidFill>
                  </a:tcPr>
                </a:tc>
                <a:tc>
                  <a:txBody>
                    <a:bodyPr/>
                    <a:lstStyle/>
                    <a:p>
                      <a:pPr algn="ctr"/>
                      <a:r>
                        <a:rPr sz="1300" b="0">
                          <a:solidFill>
                            <a:srgbClr val="0B2545"/>
                          </a:solidFill>
                          <a:latin typeface="Calibri"/>
                        </a:rPr>
                        <a:t>1,83 MB</a:t>
                      </a:r>
                    </a:p>
                  </a:txBody>
                  <a:tcPr marL="91440" marR="91440">
                    <a:solidFill>
                      <a:srgbClr val="EEF7FB"/>
                    </a:solidFill>
                  </a:tcPr>
                </a:tc>
                <a:tc>
                  <a:txBody>
                    <a:bodyPr/>
                    <a:lstStyle/>
                    <a:p>
                      <a:pPr algn="ctr"/>
                      <a:r>
                        <a:rPr sz="1300" b="0">
                          <a:solidFill>
                            <a:srgbClr val="0B2545"/>
                          </a:solidFill>
                          <a:latin typeface="Calibri"/>
                        </a:rPr>
                        <a:t>0,804</a:t>
                      </a:r>
                    </a:p>
                  </a:txBody>
                  <a:tcPr marL="91440" marR="91440">
                    <a:solidFill>
                      <a:srgbClr val="EEF7FB"/>
                    </a:solidFill>
                  </a:tcPr>
                </a:tc>
                <a:tc>
                  <a:txBody>
                    <a:bodyPr/>
                    <a:lstStyle/>
                    <a:p>
                      <a:pPr algn="ctr"/>
                      <a:r>
                        <a:rPr sz="1300" b="0">
                          <a:solidFill>
                            <a:srgbClr val="0B2545"/>
                          </a:solidFill>
                          <a:latin typeface="Calibri"/>
                        </a:rPr>
                        <a:t>218 ms</a:t>
                      </a:r>
                    </a:p>
                  </a:txBody>
                  <a:tcPr marL="91440" marR="91440">
                    <a:solidFill>
                      <a:srgbClr val="EEF7FB"/>
                    </a:solidFill>
                  </a:tcPr>
                </a:tc>
              </a:tr>
              <a:tr h="457200">
                <a:tc>
                  <a:txBody>
                    <a:bodyPr/>
                    <a:lstStyle/>
                    <a:p>
                      <a:pPr algn="l"/>
                      <a:r>
                        <a:rPr sz="1300" b="0">
                          <a:solidFill>
                            <a:srgbClr val="0B2545"/>
                          </a:solidFill>
                          <a:latin typeface="Calibri"/>
                        </a:rPr>
                        <a:t>LightGBM</a:t>
                      </a:r>
                    </a:p>
                  </a:txBody>
                  <a:tcPr marL="91440" marR="91440">
                    <a:solidFill>
                      <a:srgbClr val="FFFFFF"/>
                    </a:solidFill>
                  </a:tcPr>
                </a:tc>
                <a:tc>
                  <a:txBody>
                    <a:bodyPr/>
                    <a:lstStyle/>
                    <a:p>
                      <a:pPr algn="ctr"/>
                      <a:r>
                        <a:rPr sz="1300" b="0">
                          <a:solidFill>
                            <a:srgbClr val="0B2545"/>
                          </a:solidFill>
                          <a:latin typeface="Calibri"/>
                        </a:rPr>
                        <a:t>0,24 MB</a:t>
                      </a:r>
                    </a:p>
                  </a:txBody>
                  <a:tcPr marL="91440" marR="91440">
                    <a:solidFill>
                      <a:srgbClr val="FFFFFF"/>
                    </a:solidFill>
                  </a:tcPr>
                </a:tc>
                <a:tc>
                  <a:txBody>
                    <a:bodyPr/>
                    <a:lstStyle/>
                    <a:p>
                      <a:pPr algn="ctr"/>
                      <a:r>
                        <a:rPr sz="1300" b="0">
                          <a:solidFill>
                            <a:srgbClr val="0B2545"/>
                          </a:solidFill>
                          <a:latin typeface="Calibri"/>
                        </a:rPr>
                        <a:t>0,806</a:t>
                      </a:r>
                    </a:p>
                  </a:txBody>
                  <a:tcPr marL="91440" marR="91440">
                    <a:solidFill>
                      <a:srgbClr val="FFFFFF"/>
                    </a:solidFill>
                  </a:tcPr>
                </a:tc>
                <a:tc>
                  <a:txBody>
                    <a:bodyPr/>
                    <a:lstStyle/>
                    <a:p>
                      <a:pPr algn="ctr"/>
                      <a:r>
                        <a:rPr sz="1300" b="0">
                          <a:solidFill>
                            <a:srgbClr val="0B2545"/>
                          </a:solidFill>
                          <a:latin typeface="Calibri"/>
                        </a:rPr>
                        <a:t>349 ms</a:t>
                      </a:r>
                    </a:p>
                  </a:txBody>
                  <a:tcPr marL="91440" marR="91440">
                    <a:solidFill>
                      <a:srgbClr val="FFFFFF"/>
                    </a:solidFill>
                  </a:tcPr>
                </a:tc>
              </a:tr>
              <a:tr h="457200">
                <a:tc>
                  <a:txBody>
                    <a:bodyPr/>
                    <a:lstStyle/>
                    <a:p>
                      <a:pPr algn="l"/>
                      <a:r>
                        <a:rPr sz="1300" b="0">
                          <a:solidFill>
                            <a:srgbClr val="0B2545"/>
                          </a:solidFill>
                          <a:latin typeface="Calibri"/>
                        </a:rPr>
                        <a:t>U-Net Lite</a:t>
                      </a:r>
                    </a:p>
                  </a:txBody>
                  <a:tcPr marL="91440" marR="91440">
                    <a:solidFill>
                      <a:srgbClr val="EEF7FB"/>
                    </a:solidFill>
                  </a:tcPr>
                </a:tc>
                <a:tc>
                  <a:txBody>
                    <a:bodyPr/>
                    <a:lstStyle/>
                    <a:p>
                      <a:pPr algn="ctr"/>
                      <a:r>
                        <a:rPr sz="1300" b="0">
                          <a:solidFill>
                            <a:srgbClr val="0B2545"/>
                          </a:solidFill>
                          <a:latin typeface="Calibri"/>
                        </a:rPr>
                        <a:t>2,01 MB</a:t>
                      </a:r>
                    </a:p>
                  </a:txBody>
                  <a:tcPr marL="91440" marR="91440">
                    <a:solidFill>
                      <a:srgbClr val="EEF7FB"/>
                    </a:solidFill>
                  </a:tcPr>
                </a:tc>
                <a:tc>
                  <a:txBody>
                    <a:bodyPr/>
                    <a:lstStyle/>
                    <a:p>
                      <a:pPr algn="ctr"/>
                      <a:r>
                        <a:rPr sz="1300" b="0">
                          <a:solidFill>
                            <a:srgbClr val="0B2545"/>
                          </a:solidFill>
                          <a:latin typeface="Calibri"/>
                        </a:rPr>
                        <a:t>0,855</a:t>
                      </a:r>
                    </a:p>
                  </a:txBody>
                  <a:tcPr marL="91440" marR="91440">
                    <a:solidFill>
                      <a:srgbClr val="EEF7FB"/>
                    </a:solidFill>
                  </a:tcPr>
                </a:tc>
                <a:tc>
                  <a:txBody>
                    <a:bodyPr/>
                    <a:lstStyle/>
                    <a:p>
                      <a:pPr algn="ctr"/>
                      <a:r>
                        <a:rPr sz="1300" b="0">
                          <a:solidFill>
                            <a:srgbClr val="0B2545"/>
                          </a:solidFill>
                          <a:latin typeface="Calibri"/>
                        </a:rPr>
                        <a:t>50 ms</a:t>
                      </a:r>
                    </a:p>
                  </a:txBody>
                  <a:tcPr marL="91440" marR="91440">
                    <a:solidFill>
                      <a:srgbClr val="EEF7FB"/>
                    </a:solidFill>
                  </a:tcPr>
                </a:tc>
              </a:tr>
              <a:tr h="457200">
                <a:tc>
                  <a:txBody>
                    <a:bodyPr/>
                    <a:lstStyle/>
                    <a:p>
                      <a:pPr algn="l"/>
                      <a:r>
                        <a:rPr sz="1300" b="1">
                          <a:solidFill>
                            <a:srgbClr val="0B2545"/>
                          </a:solidFill>
                          <a:latin typeface="Calibri"/>
                        </a:rPr>
                        <a:t>DeepLabV3+</a:t>
                      </a:r>
                    </a:p>
                  </a:txBody>
                  <a:tcPr marL="91440" marR="91440">
                    <a:solidFill>
                      <a:srgbClr val="EDE9FE"/>
                    </a:solidFill>
                  </a:tcPr>
                </a:tc>
                <a:tc>
                  <a:txBody>
                    <a:bodyPr/>
                    <a:lstStyle/>
                    <a:p>
                      <a:pPr algn="ctr"/>
                      <a:r>
                        <a:rPr sz="1300" b="1">
                          <a:solidFill>
                            <a:srgbClr val="0B2545"/>
                          </a:solidFill>
                          <a:latin typeface="Calibri"/>
                        </a:rPr>
                        <a:t>4,84 MB</a:t>
                      </a:r>
                    </a:p>
                  </a:txBody>
                  <a:tcPr marL="91440" marR="91440">
                    <a:solidFill>
                      <a:srgbClr val="EDE9FE"/>
                    </a:solidFill>
                  </a:tcPr>
                </a:tc>
                <a:tc>
                  <a:txBody>
                    <a:bodyPr/>
                    <a:lstStyle/>
                    <a:p>
                      <a:pPr algn="ctr"/>
                      <a:r>
                        <a:rPr sz="1300" b="1">
                          <a:solidFill>
                            <a:srgbClr val="0B2545"/>
                          </a:solidFill>
                          <a:latin typeface="Calibri"/>
                        </a:rPr>
                        <a:t>0,867</a:t>
                      </a:r>
                    </a:p>
                  </a:txBody>
                  <a:tcPr marL="91440" marR="91440">
                    <a:solidFill>
                      <a:srgbClr val="EDE9FE"/>
                    </a:solidFill>
                  </a:tcPr>
                </a:tc>
                <a:tc>
                  <a:txBody>
                    <a:bodyPr/>
                    <a:lstStyle/>
                    <a:p>
                      <a:pPr algn="ctr"/>
                      <a:r>
                        <a:rPr sz="1300" b="1">
                          <a:solidFill>
                            <a:srgbClr val="0B2545"/>
                          </a:solidFill>
                          <a:latin typeface="Calibri"/>
                        </a:rPr>
                        <a:t>26 ms</a:t>
                      </a:r>
                    </a:p>
                  </a:txBody>
                  <a:tcPr marL="91440" marR="91440">
                    <a:solidFill>
                      <a:srgbClr val="EDE9FE"/>
                    </a:solidFill>
                  </a:tcPr>
                </a:tc>
              </a:tr>
            </a:tbl>
          </a:graphicData>
        </a:graphic>
      </p:graphicFrame>
      <p:sp>
        <p:nvSpPr>
          <p:cNvPr id="23" name="Rounded Rectangle 22"/>
          <p:cNvSpPr/>
          <p:nvPr/>
        </p:nvSpPr>
        <p:spPr>
          <a:xfrm>
            <a:off x="7635240" y="3429000"/>
            <a:ext cx="4023360" cy="2743200"/>
          </a:xfrm>
          <a:prstGeom prst="roundRect">
            <a:avLst>
              <a:gd name="adj" fmla="val 400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09560" y="3611880"/>
            <a:ext cx="3566160" cy="2468880"/>
          </a:xfrm>
          <a:prstGeom prst="rect">
            <a:avLst/>
          </a:prstGeom>
          <a:noFill/>
        </p:spPr>
        <p:txBody>
          <a:bodyPr wrap="square" anchor="t" lIns="0" rIns="0" tIns="0" bIns="0">
            <a:spAutoFit/>
          </a:bodyPr>
          <a:lstStyle/>
          <a:p>
            <a:pPr algn="l">
              <a:spcAft>
                <a:spcPts val="300"/>
              </a:spcAft>
            </a:pPr>
            <a:r>
              <a:rPr sz="1350" b="1" i="0">
                <a:solidFill>
                  <a:srgbClr val="0B2545"/>
                </a:solidFill>
                <a:latin typeface="Calibri"/>
              </a:rPr>
              <a:t>Citra tidak pernah dikirim ke server</a:t>
            </a:r>
          </a:p>
          <a:p>
            <a:pPr algn="l">
              <a:spcAft>
                <a:spcPts val="300"/>
              </a:spcAft>
            </a:pPr>
            <a:r>
              <a:rPr sz="1350" b="0" i="0">
                <a:solidFill>
                  <a:srgbClr val="0B2545"/>
                </a:solidFill>
                <a:latin typeface="Calibri"/>
              </a:rPr>
              <a:t>Inferensi 100% di perangkat pengguna.</a:t>
            </a:r>
          </a:p>
          <a:p>
            <a:pPr algn="l">
              <a:spcAft>
                <a:spcPts val="300"/>
              </a:spcAft>
            </a:pPr>
            <a:r>
              <a:rPr sz="1350" b="1" i="0">
                <a:solidFill>
                  <a:srgbClr val="0B2545"/>
                </a:solidFill>
                <a:latin typeface="Calibri"/>
              </a:rPr>
              <a:t>INT8 tanpa penurunan akurasi</a:t>
            </a:r>
          </a:p>
          <a:p>
            <a:pPr algn="l">
              <a:spcAft>
                <a:spcPts val="300"/>
              </a:spcAft>
            </a:pPr>
            <a:r>
              <a:rPr sz="1350" b="0" i="0">
                <a:solidFill>
                  <a:srgbClr val="0B2545"/>
                </a:solidFill>
                <a:latin typeface="Calibri"/>
              </a:rPr>
              <a:t>DeepLabV3+ 17,5 → 4,8 MB, Dice tetap 0,867.</a:t>
            </a:r>
          </a:p>
          <a:p>
            <a:pPr algn="l">
              <a:spcAft>
                <a:spcPts val="300"/>
              </a:spcAft>
            </a:pPr>
            <a:r>
              <a:rPr sz="1350" b="1" i="0">
                <a:solidFill>
                  <a:srgbClr val="0B2545"/>
                </a:solidFill>
                <a:latin typeface="Calibri"/>
              </a:rPr>
              <a:t>±130 ms per citra di browser</a:t>
            </a:r>
          </a:p>
          <a:p>
            <a:pPr algn="l">
              <a:spcAft>
                <a:spcPts val="300"/>
              </a:spcAft>
            </a:pPr>
            <a:r>
              <a:rPr sz="1350" b="0" i="0">
                <a:solidFill>
                  <a:srgbClr val="0B2545"/>
                </a:solidFill>
                <a:latin typeface="Calibri"/>
              </a:rPr>
              <a:t>Uji di Chrome laptop, WASM multi-thread.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08 · RESPONS HSSE</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Dari deteksi ke rencana respons: poligon, arah, dan oil boom</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Simulasi skenario (what-if) dengan angin &amp; arus yang diisi pengguna.</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9</a:t>
            </a:r>
          </a:p>
        </p:txBody>
      </p:sp>
      <p:pic>
        <p:nvPicPr>
          <p:cNvPr id="11" name="Picture 10" descr="web_v2_sim.jpg"/>
          <p:cNvPicPr>
            <a:picLocks noChangeAspect="1"/>
          </p:cNvPicPr>
          <p:nvPr/>
        </p:nvPicPr>
        <p:blipFill>
          <a:blip r:embed="rId2"/>
          <a:stretch>
            <a:fillRect/>
          </a:stretch>
        </p:blipFill>
        <p:spPr>
          <a:xfrm>
            <a:off x="457200" y="2130552"/>
            <a:ext cx="6766560" cy="4059936"/>
          </a:xfrm>
          <a:prstGeom prst="rect">
            <a:avLst/>
          </a:prstGeom>
        </p:spPr>
      </p:pic>
      <p:sp>
        <p:nvSpPr>
          <p:cNvPr id="12" name="Rounded Rectangle 11"/>
          <p:cNvSpPr/>
          <p:nvPr/>
        </p:nvSpPr>
        <p:spPr>
          <a:xfrm>
            <a:off x="7498079" y="1965960"/>
            <a:ext cx="4160520" cy="1325880"/>
          </a:xfrm>
          <a:prstGeom prst="roundRect">
            <a:avLst>
              <a:gd name="adj" fmla="val 8275"/>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726679" y="2212848"/>
            <a:ext cx="201168" cy="20116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2148840"/>
            <a:ext cx="3429000" cy="365760"/>
          </a:xfrm>
          <a:prstGeom prst="rect">
            <a:avLst/>
          </a:prstGeom>
          <a:noFill/>
        </p:spPr>
        <p:txBody>
          <a:bodyPr wrap="square" anchor="t" lIns="0" rIns="0" tIns="0" bIns="0">
            <a:spAutoFit/>
          </a:bodyPr>
          <a:lstStyle/>
          <a:p>
            <a:pPr algn="l"/>
            <a:r>
              <a:rPr sz="1500" b="1" i="0">
                <a:solidFill>
                  <a:srgbClr val="0B2545"/>
                </a:solidFill>
                <a:latin typeface="Calibri"/>
              </a:rPr>
              <a:t>Drift (arah &amp; kecepatan)</a:t>
            </a:r>
          </a:p>
        </p:txBody>
      </p:sp>
      <p:sp>
        <p:nvSpPr>
          <p:cNvPr id="15" name="TextBox 14"/>
          <p:cNvSpPr txBox="1"/>
          <p:nvPr/>
        </p:nvSpPr>
        <p:spPr>
          <a:xfrm>
            <a:off x="7726679" y="2606039"/>
            <a:ext cx="3703320" cy="548640"/>
          </a:xfrm>
          <a:prstGeom prst="rect">
            <a:avLst/>
          </a:prstGeom>
          <a:noFill/>
        </p:spPr>
        <p:txBody>
          <a:bodyPr wrap="square" anchor="t" lIns="0" rIns="0" tIns="0" bIns="0">
            <a:spAutoFit/>
          </a:bodyPr>
          <a:lstStyle/>
          <a:p>
            <a:pPr algn="l">
              <a:spcAft>
                <a:spcPts val="400"/>
              </a:spcAft>
            </a:pPr>
            <a:r>
              <a:rPr sz="1250" b="0" i="0">
                <a:solidFill>
                  <a:srgbClr val="0B2545"/>
                </a:solidFill>
                <a:latin typeface="Calibri"/>
              </a:rPr>
              <a:t>3% kecepatan angin + 100% arus permukaan (aturan praktis model NOAA GNOME).</a:t>
            </a:r>
          </a:p>
        </p:txBody>
      </p:sp>
      <p:sp>
        <p:nvSpPr>
          <p:cNvPr id="16" name="Rounded Rectangle 15"/>
          <p:cNvSpPr/>
          <p:nvPr/>
        </p:nvSpPr>
        <p:spPr>
          <a:xfrm>
            <a:off x="7498079" y="3429000"/>
            <a:ext cx="4160520" cy="1325880"/>
          </a:xfrm>
          <a:prstGeom prst="roundRect">
            <a:avLst>
              <a:gd name="adj" fmla="val 8275"/>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726679" y="367588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3611880"/>
            <a:ext cx="3429000" cy="365760"/>
          </a:xfrm>
          <a:prstGeom prst="rect">
            <a:avLst/>
          </a:prstGeom>
          <a:noFill/>
        </p:spPr>
        <p:txBody>
          <a:bodyPr wrap="square" anchor="t" lIns="0" rIns="0" tIns="0" bIns="0">
            <a:spAutoFit/>
          </a:bodyPr>
          <a:lstStyle/>
          <a:p>
            <a:pPr algn="l"/>
            <a:r>
              <a:rPr sz="1500" b="1" i="0">
                <a:solidFill>
                  <a:srgbClr val="0B2545"/>
                </a:solidFill>
                <a:latin typeface="Calibri"/>
              </a:rPr>
              <a:t>Penyebaran</a:t>
            </a:r>
          </a:p>
        </p:txBody>
      </p:sp>
      <p:sp>
        <p:nvSpPr>
          <p:cNvPr id="19" name="TextBox 18"/>
          <p:cNvSpPr txBox="1"/>
          <p:nvPr/>
        </p:nvSpPr>
        <p:spPr>
          <a:xfrm>
            <a:off x="7726679" y="4069080"/>
            <a:ext cx="3703320" cy="548640"/>
          </a:xfrm>
          <a:prstGeom prst="rect">
            <a:avLst/>
          </a:prstGeom>
          <a:noFill/>
        </p:spPr>
        <p:txBody>
          <a:bodyPr wrap="square" anchor="t" lIns="0" rIns="0" tIns="0" bIns="0">
            <a:spAutoFit/>
          </a:bodyPr>
          <a:lstStyle/>
          <a:p>
            <a:pPr algn="l">
              <a:spcAft>
                <a:spcPts val="400"/>
              </a:spcAft>
            </a:pPr>
            <a:r>
              <a:rPr sz="1250" b="0" i="0">
                <a:solidFill>
                  <a:srgbClr val="0B2545"/>
                </a:solidFill>
                <a:latin typeface="Calibri"/>
              </a:rPr>
              <a:t>Persamaan Fay (gravitasi-viskos) + difusi turbulen Okubo; volume = luas × ketebalan Bonn Agreement.</a:t>
            </a:r>
          </a:p>
        </p:txBody>
      </p:sp>
      <p:sp>
        <p:nvSpPr>
          <p:cNvPr id="20" name="Rounded Rectangle 19"/>
          <p:cNvSpPr/>
          <p:nvPr/>
        </p:nvSpPr>
        <p:spPr>
          <a:xfrm>
            <a:off x="7498079" y="4892040"/>
            <a:ext cx="4160520" cy="1508760"/>
          </a:xfrm>
          <a:prstGeom prst="roundRect">
            <a:avLst>
              <a:gd name="adj" fmla="val 7272"/>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26679" y="4983480"/>
            <a:ext cx="3749039" cy="320040"/>
          </a:xfrm>
          <a:prstGeom prst="rect">
            <a:avLst/>
          </a:prstGeom>
          <a:noFill/>
        </p:spPr>
        <p:txBody>
          <a:bodyPr wrap="square" anchor="t" lIns="0" rIns="0" tIns="0" bIns="0">
            <a:spAutoFit/>
          </a:bodyPr>
          <a:lstStyle/>
          <a:p>
            <a:pPr algn="l"/>
            <a:r>
              <a:rPr sz="1250" b="1" i="0">
                <a:solidFill>
                  <a:srgbClr val="F97316"/>
                </a:solidFill>
                <a:latin typeface="Calibri"/>
              </a:rPr>
              <a:t>Contoh: sampel uji tipikal, 10 m/piksel</a:t>
            </a:r>
          </a:p>
        </p:txBody>
      </p:sp>
      <p:sp>
        <p:nvSpPr>
          <p:cNvPr id="22" name="TextBox 21"/>
          <p:cNvSpPr txBox="1"/>
          <p:nvPr/>
        </p:nvSpPr>
        <p:spPr>
          <a:xfrm>
            <a:off x="7726679" y="5321808"/>
            <a:ext cx="3749039" cy="1051560"/>
          </a:xfrm>
          <a:prstGeom prst="rect">
            <a:avLst/>
          </a:prstGeom>
          <a:noFill/>
        </p:spPr>
        <p:txBody>
          <a:bodyPr wrap="square" anchor="t" lIns="0" rIns="0" tIns="0" bIns="0">
            <a:spAutoFit/>
          </a:bodyPr>
          <a:lstStyle/>
          <a:p>
            <a:pPr algn="l"/>
            <a:r>
              <a:rPr sz="1250" b="0" i="0">
                <a:solidFill>
                  <a:srgbClr val="0B2545"/>
                </a:solidFill>
                <a:latin typeface="Calibri"/>
              </a:rPr>
              <a:t>Angin 8 m/s, arus 0,3 m/s → slick bergerak 0,21 m/s ke tenggara, melebar ±0,10 km²/jam. Saat tim tiba (+3 jam) perlu oil boom ±16,4 km.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09 · NILAI BISNIS</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Efisiensi biaya &amp; penurunan risiko personel</a:t>
            </a:r>
          </a:p>
        </p:txBody>
      </p:sp>
      <p:sp>
        <p:nvSpPr>
          <p:cNvPr id="9" name="TextBox 8"/>
          <p:cNvSpPr txBox="1"/>
          <p:nvPr/>
        </p:nvSpPr>
        <p:spPr>
          <a:xfrm>
            <a:off x="548640" y="1444752"/>
            <a:ext cx="11064240" cy="411480"/>
          </a:xfrm>
          <a:prstGeom prst="rect">
            <a:avLst/>
          </a:prstGeom>
          <a:noFill/>
        </p:spPr>
        <p:txBody>
          <a:bodyPr wrap="square" anchor="t" lIns="0" rIns="0" tIns="0" bIns="0">
            <a:spAutoFit/>
          </a:bodyPr>
          <a:lstStyle/>
          <a:p>
            <a:pPr algn="l"/>
            <a:r>
              <a:rPr sz="1500" b="0" i="0">
                <a:solidFill>
                  <a:srgbClr val="5B7085"/>
                </a:solidFill>
                <a:latin typeface="Calibri"/>
              </a:rPr>
              <a:t>Kalkulator di web · angka default adalah asumsi ilustratif yang bisa diganti data perusahaan.</a:t>
            </a:r>
          </a:p>
        </p:txBody>
      </p:sp>
      <p:sp>
        <p:nvSpPr>
          <p:cNvPr id="10" name="TextBox 9"/>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10</a:t>
            </a:r>
          </a:p>
        </p:txBody>
      </p:sp>
      <p:sp>
        <p:nvSpPr>
          <p:cNvPr id="11" name="TextBox 10"/>
          <p:cNvSpPr txBox="1"/>
          <p:nvPr/>
        </p:nvSpPr>
        <p:spPr>
          <a:xfrm>
            <a:off x="548640" y="2057400"/>
            <a:ext cx="3566160" cy="685800"/>
          </a:xfrm>
          <a:prstGeom prst="rect">
            <a:avLst/>
          </a:prstGeom>
          <a:noFill/>
        </p:spPr>
        <p:txBody>
          <a:bodyPr wrap="square" anchor="t" lIns="0" rIns="0" tIns="0" bIns="0">
            <a:spAutoFit/>
          </a:bodyPr>
          <a:lstStyle/>
          <a:p>
            <a:pPr algn="l"/>
            <a:r>
              <a:rPr sz="4800" b="1" i="0">
                <a:solidFill>
                  <a:srgbClr val="059669"/>
                </a:solidFill>
                <a:latin typeface="Calibri"/>
              </a:rPr>
              <a:t>−75%</a:t>
            </a:r>
          </a:p>
        </p:txBody>
      </p:sp>
      <p:sp>
        <p:nvSpPr>
          <p:cNvPr id="12" name="TextBox 11"/>
          <p:cNvSpPr txBox="1"/>
          <p:nvPr/>
        </p:nvSpPr>
        <p:spPr>
          <a:xfrm>
            <a:off x="548640" y="2770632"/>
            <a:ext cx="3566160" cy="548640"/>
          </a:xfrm>
          <a:prstGeom prst="rect">
            <a:avLst/>
          </a:prstGeom>
          <a:noFill/>
        </p:spPr>
        <p:txBody>
          <a:bodyPr wrap="square" anchor="t" lIns="0" rIns="0" tIns="0" bIns="0">
            <a:spAutoFit/>
          </a:bodyPr>
          <a:lstStyle/>
          <a:p>
            <a:pPr algn="l"/>
            <a:r>
              <a:rPr sz="1250" b="0" i="0">
                <a:solidFill>
                  <a:srgbClr val="5B7085"/>
                </a:solidFill>
                <a:latin typeface="Calibri"/>
              </a:rPr>
              <a:t>biaya pemantauan per bulan
Rp2,16 M → Rp0,54 M (asumsi)</a:t>
            </a:r>
          </a:p>
        </p:txBody>
      </p:sp>
      <p:sp>
        <p:nvSpPr>
          <p:cNvPr id="13" name="TextBox 12"/>
          <p:cNvSpPr txBox="1"/>
          <p:nvPr/>
        </p:nvSpPr>
        <p:spPr>
          <a:xfrm>
            <a:off x="548640" y="3520440"/>
            <a:ext cx="3566160" cy="685800"/>
          </a:xfrm>
          <a:prstGeom prst="rect">
            <a:avLst/>
          </a:prstGeom>
          <a:noFill/>
        </p:spPr>
        <p:txBody>
          <a:bodyPr wrap="square" anchor="t" lIns="0" rIns="0" tIns="0" bIns="0">
            <a:spAutoFit/>
          </a:bodyPr>
          <a:lstStyle/>
          <a:p>
            <a:pPr algn="l"/>
            <a:r>
              <a:rPr sz="4000" b="1" i="0">
                <a:solidFill>
                  <a:srgbClr val="0E7490"/>
                </a:solidFill>
                <a:latin typeface="Calibri"/>
              </a:rPr>
              <a:t>192 → 48</a:t>
            </a:r>
          </a:p>
        </p:txBody>
      </p:sp>
      <p:sp>
        <p:nvSpPr>
          <p:cNvPr id="14" name="TextBox 13"/>
          <p:cNvSpPr txBox="1"/>
          <p:nvPr/>
        </p:nvSpPr>
        <p:spPr>
          <a:xfrm>
            <a:off x="548640" y="4233672"/>
            <a:ext cx="3566160" cy="548640"/>
          </a:xfrm>
          <a:prstGeom prst="rect">
            <a:avLst/>
          </a:prstGeom>
          <a:noFill/>
        </p:spPr>
        <p:txBody>
          <a:bodyPr wrap="square" anchor="t" lIns="0" rIns="0" tIns="0" bIns="0">
            <a:spAutoFit/>
          </a:bodyPr>
          <a:lstStyle/>
          <a:p>
            <a:pPr algn="l"/>
            <a:r>
              <a:rPr sz="1250" b="0" i="0">
                <a:solidFill>
                  <a:srgbClr val="5B7085"/>
                </a:solidFill>
                <a:latin typeface="Calibri"/>
              </a:rPr>
              <a:t>jam paparan personel di lapangan
per bulan (−75%)</a:t>
            </a:r>
          </a:p>
        </p:txBody>
      </p:sp>
      <p:sp>
        <p:nvSpPr>
          <p:cNvPr id="15" name="TextBox 14"/>
          <p:cNvSpPr txBox="1"/>
          <p:nvPr/>
        </p:nvSpPr>
        <p:spPr>
          <a:xfrm>
            <a:off x="548640" y="4937760"/>
            <a:ext cx="3566160" cy="685800"/>
          </a:xfrm>
          <a:prstGeom prst="rect">
            <a:avLst/>
          </a:prstGeom>
          <a:noFill/>
        </p:spPr>
        <p:txBody>
          <a:bodyPr wrap="square" anchor="t" lIns="0" rIns="0" tIns="0" bIns="0">
            <a:spAutoFit/>
          </a:bodyPr>
          <a:lstStyle/>
          <a:p>
            <a:pPr algn="l"/>
            <a:r>
              <a:rPr sz="4000" b="1" i="0">
                <a:solidFill>
                  <a:srgbClr val="7C3AED"/>
                </a:solidFill>
                <a:latin typeface="Calibri"/>
              </a:rPr>
              <a:t>68 → 41</a:t>
            </a:r>
          </a:p>
        </p:txBody>
      </p:sp>
      <p:sp>
        <p:nvSpPr>
          <p:cNvPr id="16" name="TextBox 15"/>
          <p:cNvSpPr txBox="1"/>
          <p:nvPr/>
        </p:nvSpPr>
        <p:spPr>
          <a:xfrm>
            <a:off x="548640" y="5650992"/>
            <a:ext cx="3566160" cy="548640"/>
          </a:xfrm>
          <a:prstGeom prst="rect">
            <a:avLst/>
          </a:prstGeom>
          <a:noFill/>
        </p:spPr>
        <p:txBody>
          <a:bodyPr wrap="square" anchor="t" lIns="0" rIns="0" tIns="0" bIns="0">
            <a:spAutoFit/>
          </a:bodyPr>
          <a:lstStyle/>
          <a:p>
            <a:pPr algn="l"/>
            <a:r>
              <a:rPr sz="1250" b="0" i="0">
                <a:solidFill>
                  <a:srgbClr val="5B7085"/>
                </a:solidFill>
                <a:latin typeface="Calibri"/>
              </a:rPr>
              <a:t>total skor risiko HSSE (L × S)
turun 40%</a:t>
            </a:r>
          </a:p>
        </p:txBody>
      </p:sp>
      <p:graphicFrame>
        <p:nvGraphicFramePr>
          <p:cNvPr id="17" name="Table 16"/>
          <p:cNvGraphicFramePr>
            <a:graphicFrameLocks noGrp="1"/>
          </p:cNvGraphicFramePr>
          <p:nvPr/>
        </p:nvGraphicFramePr>
        <p:xfrm>
          <a:off x="4343400" y="2057400"/>
          <a:ext cx="7315200" cy="3840480"/>
        </p:xfrm>
        <a:graphic>
          <a:graphicData uri="http://schemas.openxmlformats.org/drawingml/2006/table">
            <a:tbl>
              <a:tblPr firstRow="1" bandRow="1">
                <a:tableStyleId>{5C22544A-7EE6-4342-B048-85BDC9FD1C3A}</a:tableStyleId>
              </a:tblPr>
              <a:tblGrid>
                <a:gridCol w="4206240"/>
                <a:gridCol w="1554480"/>
                <a:gridCol w="1554480"/>
              </a:tblGrid>
              <a:tr h="480060">
                <a:tc>
                  <a:txBody>
                    <a:bodyPr/>
                    <a:lstStyle/>
                    <a:p>
                      <a:pPr algn="l"/>
                      <a:r>
                        <a:rPr sz="1250" b="1" i="0">
                          <a:solidFill>
                            <a:srgbClr val="FFFFFF"/>
                          </a:solidFill>
                          <a:latin typeface="Calibri"/>
                        </a:rPr>
                        <a:t>Bahaya</a:t>
                      </a:r>
                    </a:p>
                  </a:txBody>
                  <a:tcPr>
                    <a:solidFill>
                      <a:srgbClr val="0B2545"/>
                    </a:solidFill>
                  </a:tcPr>
                </a:tc>
                <a:tc>
                  <a:txBody>
                    <a:bodyPr/>
                    <a:lstStyle/>
                    <a:p>
                      <a:pPr algn="ctr"/>
                      <a:r>
                        <a:rPr sz="1250" b="1" i="0">
                          <a:solidFill>
                            <a:srgbClr val="FFFFFF"/>
                          </a:solidFill>
                          <a:latin typeface="Calibri"/>
                        </a:rPr>
                        <a:t>Sebelum</a:t>
                      </a:r>
                    </a:p>
                  </a:txBody>
                  <a:tcPr>
                    <a:solidFill>
                      <a:srgbClr val="0B2545"/>
                    </a:solidFill>
                  </a:tcPr>
                </a:tc>
                <a:tc>
                  <a:txBody>
                    <a:bodyPr/>
                    <a:lstStyle/>
                    <a:p>
                      <a:pPr algn="ctr"/>
                      <a:r>
                        <a:rPr sz="1250" b="1" i="0">
                          <a:solidFill>
                            <a:srgbClr val="FFFFFF"/>
                          </a:solidFill>
                          <a:latin typeface="Calibri"/>
                        </a:rPr>
                        <a:t>Sesudah CV</a:t>
                      </a:r>
                    </a:p>
                  </a:txBody>
                  <a:tcPr>
                    <a:solidFill>
                      <a:srgbClr val="0B2545"/>
                    </a:solidFill>
                  </a:tcPr>
                </a:tc>
              </a:tr>
              <a:tr h="480060">
                <a:tc>
                  <a:txBody>
                    <a:bodyPr/>
                    <a:lstStyle/>
                    <a:p>
                      <a:pPr algn="l"/>
                      <a:r>
                        <a:rPr sz="1250" b="0" i="0">
                          <a:solidFill>
                            <a:srgbClr val="0B2545"/>
                          </a:solidFill>
                          <a:latin typeface="Calibri"/>
                        </a:rPr>
                        <a:t>Paparan uap hidrokarbon (VOC, H₂S)</a:t>
                      </a:r>
                    </a:p>
                  </a:txBody>
                  <a:tcPr>
                    <a:solidFill>
                      <a:srgbClr val="FFFFFF"/>
                    </a:solidFill>
                  </a:tcPr>
                </a:tc>
                <a:tc>
                  <a:txBody>
                    <a:bodyPr/>
                    <a:lstStyle/>
                    <a:p>
                      <a:pPr algn="ctr"/>
                      <a:r>
                        <a:rPr sz="1250" b="0" i="0">
                          <a:solidFill>
                            <a:srgbClr val="0B2545"/>
                          </a:solidFill>
                          <a:latin typeface="Calibri"/>
                        </a:rPr>
                        <a:t>12 · Tinggi</a:t>
                      </a:r>
                    </a:p>
                  </a:txBody>
                  <a:tcPr>
                    <a:solidFill>
                      <a:srgbClr val="FED7AA"/>
                    </a:solidFill>
                  </a:tcPr>
                </a:tc>
                <a:tc>
                  <a:txBody>
                    <a:bodyPr/>
                    <a:lstStyle/>
                    <a:p>
                      <a:pPr algn="ctr"/>
                      <a:r>
                        <a:rPr sz="1250" b="0" i="0">
                          <a:solidFill>
                            <a:srgbClr val="0B2545"/>
                          </a:solidFill>
                          <a:latin typeface="Calibri"/>
                        </a:rPr>
                        <a:t>4 · Rendah</a:t>
                      </a:r>
                    </a:p>
                  </a:txBody>
                  <a:tcPr>
                    <a:solidFill>
                      <a:srgbClr val="D1FAE5"/>
                    </a:solidFill>
                  </a:tcPr>
                </a:tc>
              </a:tr>
              <a:tr h="480060">
                <a:tc>
                  <a:txBody>
                    <a:bodyPr/>
                    <a:lstStyle/>
                    <a:p>
                      <a:pPr algn="l"/>
                      <a:r>
                        <a:rPr sz="1250" b="0" i="0">
                          <a:solidFill>
                            <a:srgbClr val="0B2545"/>
                          </a:solidFill>
                          <a:latin typeface="Calibri"/>
                        </a:rPr>
                        <a:t>Kecelakaan penerbangan pengintaian</a:t>
                      </a:r>
                    </a:p>
                  </a:txBody>
                  <a:tcPr>
                    <a:solidFill>
                      <a:srgbClr val="EEF7FB"/>
                    </a:solidFill>
                  </a:tcPr>
                </a:tc>
                <a:tc>
                  <a:txBody>
                    <a:bodyPr/>
                    <a:lstStyle/>
                    <a:p>
                      <a:pPr algn="ctr"/>
                      <a:r>
                        <a:rPr sz="1250" b="0" i="0">
                          <a:solidFill>
                            <a:srgbClr val="0B2545"/>
                          </a:solidFill>
                          <a:latin typeface="Calibri"/>
                        </a:rPr>
                        <a:t>10 · Tinggi</a:t>
                      </a:r>
                    </a:p>
                  </a:txBody>
                  <a:tcPr>
                    <a:solidFill>
                      <a:srgbClr val="FED7AA"/>
                    </a:solidFill>
                  </a:tcPr>
                </a:tc>
                <a:tc>
                  <a:txBody>
                    <a:bodyPr/>
                    <a:lstStyle/>
                    <a:p>
                      <a:pPr algn="ctr"/>
                      <a:r>
                        <a:rPr sz="1250" b="0" i="0">
                          <a:solidFill>
                            <a:srgbClr val="0B2545"/>
                          </a:solidFill>
                          <a:latin typeface="Calibri"/>
                        </a:rPr>
                        <a:t>5 · Sedang</a:t>
                      </a:r>
                    </a:p>
                  </a:txBody>
                  <a:tcPr>
                    <a:solidFill>
                      <a:srgbClr val="FEF3C7"/>
                    </a:solidFill>
                  </a:tcPr>
                </a:tc>
              </a:tr>
              <a:tr h="480060">
                <a:tc>
                  <a:txBody>
                    <a:bodyPr/>
                    <a:lstStyle/>
                    <a:p>
                      <a:pPr algn="l"/>
                      <a:r>
                        <a:rPr sz="1250" b="0" i="0">
                          <a:solidFill>
                            <a:srgbClr val="0B2545"/>
                          </a:solidFill>
                          <a:latin typeface="Calibri"/>
                        </a:rPr>
                        <a:t>Insiden kapal patroli</a:t>
                      </a:r>
                    </a:p>
                  </a:txBody>
                  <a:tcPr>
                    <a:solidFill>
                      <a:srgbClr val="FFFFFF"/>
                    </a:solidFill>
                  </a:tcPr>
                </a:tc>
                <a:tc>
                  <a:txBody>
                    <a:bodyPr/>
                    <a:lstStyle/>
                    <a:p>
                      <a:pPr algn="ctr"/>
                      <a:r>
                        <a:rPr sz="1250" b="0" i="0">
                          <a:solidFill>
                            <a:srgbClr val="0B2545"/>
                          </a:solidFill>
                          <a:latin typeface="Calibri"/>
                        </a:rPr>
                        <a:t>12 · Tinggi</a:t>
                      </a:r>
                    </a:p>
                  </a:txBody>
                  <a:tcPr>
                    <a:solidFill>
                      <a:srgbClr val="FED7AA"/>
                    </a:solidFill>
                  </a:tcPr>
                </a:tc>
                <a:tc>
                  <a:txBody>
                    <a:bodyPr/>
                    <a:lstStyle/>
                    <a:p>
                      <a:pPr algn="ctr"/>
                      <a:r>
                        <a:rPr sz="1250" b="0" i="0">
                          <a:solidFill>
                            <a:srgbClr val="0B2545"/>
                          </a:solidFill>
                          <a:latin typeface="Calibri"/>
                        </a:rPr>
                        <a:t>4 · Rendah</a:t>
                      </a:r>
                    </a:p>
                  </a:txBody>
                  <a:tcPr>
                    <a:solidFill>
                      <a:srgbClr val="D1FAE5"/>
                    </a:solidFill>
                  </a:tcPr>
                </a:tc>
              </a:tr>
              <a:tr h="480060">
                <a:tc>
                  <a:txBody>
                    <a:bodyPr/>
                    <a:lstStyle/>
                    <a:p>
                      <a:pPr algn="l"/>
                      <a:r>
                        <a:rPr sz="1250" b="0" i="0">
                          <a:solidFill>
                            <a:srgbClr val="0B2545"/>
                          </a:solidFill>
                          <a:latin typeface="Calibri"/>
                        </a:rPr>
                        <a:t>Kebakaran/ledakan dekat minyak segar</a:t>
                      </a:r>
                    </a:p>
                  </a:txBody>
                  <a:tcPr>
                    <a:solidFill>
                      <a:srgbClr val="EEF7FB"/>
                    </a:solidFill>
                  </a:tcPr>
                </a:tc>
                <a:tc>
                  <a:txBody>
                    <a:bodyPr/>
                    <a:lstStyle/>
                    <a:p>
                      <a:pPr algn="ctr"/>
                      <a:r>
                        <a:rPr sz="1250" b="0" i="0">
                          <a:solidFill>
                            <a:srgbClr val="0B2545"/>
                          </a:solidFill>
                          <a:latin typeface="Calibri"/>
                        </a:rPr>
                        <a:t>10 · Tinggi</a:t>
                      </a:r>
                    </a:p>
                  </a:txBody>
                  <a:tcPr>
                    <a:solidFill>
                      <a:srgbClr val="FED7AA"/>
                    </a:solidFill>
                  </a:tcPr>
                </a:tc>
                <a:tc>
                  <a:txBody>
                    <a:bodyPr/>
                    <a:lstStyle/>
                    <a:p>
                      <a:pPr algn="ctr"/>
                      <a:r>
                        <a:rPr sz="1250" b="0" i="0">
                          <a:solidFill>
                            <a:srgbClr val="0B2545"/>
                          </a:solidFill>
                          <a:latin typeface="Calibri"/>
                        </a:rPr>
                        <a:t>5 · Sedang</a:t>
                      </a:r>
                    </a:p>
                  </a:txBody>
                  <a:tcPr>
                    <a:solidFill>
                      <a:srgbClr val="FEF3C7"/>
                    </a:solidFill>
                  </a:tcPr>
                </a:tc>
              </a:tr>
              <a:tr h="480060">
                <a:tc>
                  <a:txBody>
                    <a:bodyPr/>
                    <a:lstStyle/>
                    <a:p>
                      <a:pPr algn="l"/>
                      <a:r>
                        <a:rPr sz="1250" b="0" i="0">
                          <a:solidFill>
                            <a:srgbClr val="0B2545"/>
                          </a:solidFill>
                          <a:latin typeface="Calibri"/>
                        </a:rPr>
                        <a:t>Kelelahan kru (patroli panjang &amp; malam)</a:t>
                      </a:r>
                    </a:p>
                  </a:txBody>
                  <a:tcPr>
                    <a:solidFill>
                      <a:srgbClr val="FFFFFF"/>
                    </a:solidFill>
                  </a:tcPr>
                </a:tc>
                <a:tc>
                  <a:txBody>
                    <a:bodyPr/>
                    <a:lstStyle/>
                    <a:p>
                      <a:pPr algn="ctr"/>
                      <a:r>
                        <a:rPr sz="1250" b="0" i="0">
                          <a:solidFill>
                            <a:srgbClr val="0B2545"/>
                          </a:solidFill>
                          <a:latin typeface="Calibri"/>
                        </a:rPr>
                        <a:t>12 · Tinggi</a:t>
                      </a:r>
                    </a:p>
                  </a:txBody>
                  <a:tcPr>
                    <a:solidFill>
                      <a:srgbClr val="FED7AA"/>
                    </a:solidFill>
                  </a:tcPr>
                </a:tc>
                <a:tc>
                  <a:txBody>
                    <a:bodyPr/>
                    <a:lstStyle/>
                    <a:p>
                      <a:pPr algn="ctr"/>
                      <a:r>
                        <a:rPr sz="1250" b="0" i="0">
                          <a:solidFill>
                            <a:srgbClr val="0B2545"/>
                          </a:solidFill>
                          <a:latin typeface="Calibri"/>
                        </a:rPr>
                        <a:t>6 · Sedang</a:t>
                      </a:r>
                    </a:p>
                  </a:txBody>
                  <a:tcPr>
                    <a:solidFill>
                      <a:srgbClr val="FEF3C7"/>
                    </a:solidFill>
                  </a:tcPr>
                </a:tc>
              </a:tr>
              <a:tr h="480060">
                <a:tc>
                  <a:txBody>
                    <a:bodyPr/>
                    <a:lstStyle/>
                    <a:p>
                      <a:pPr algn="l"/>
                      <a:r>
                        <a:rPr sz="1250" b="0" i="0">
                          <a:solidFill>
                            <a:srgbClr val="0B2545"/>
                          </a:solidFill>
                          <a:latin typeface="Calibri"/>
                        </a:rPr>
                        <a:t>Tumpahan terlambat diketahui</a:t>
                      </a:r>
                    </a:p>
                  </a:txBody>
                  <a:tcPr>
                    <a:solidFill>
                      <a:srgbClr val="EEF7FB"/>
                    </a:solidFill>
                  </a:tcPr>
                </a:tc>
                <a:tc>
                  <a:txBody>
                    <a:bodyPr/>
                    <a:lstStyle/>
                    <a:p>
                      <a:pPr algn="ctr"/>
                      <a:r>
                        <a:rPr sz="1250" b="0" i="0">
                          <a:solidFill>
                            <a:srgbClr val="0B2545"/>
                          </a:solidFill>
                          <a:latin typeface="Calibri"/>
                        </a:rPr>
                        <a:t>12 · Tinggi</a:t>
                      </a:r>
                    </a:p>
                  </a:txBody>
                  <a:tcPr>
                    <a:solidFill>
                      <a:srgbClr val="FED7AA"/>
                    </a:solidFill>
                  </a:tcPr>
                </a:tc>
                <a:tc>
                  <a:txBody>
                    <a:bodyPr/>
                    <a:lstStyle/>
                    <a:p>
                      <a:pPr algn="ctr"/>
                      <a:r>
                        <a:rPr sz="1250" b="0" i="0">
                          <a:solidFill>
                            <a:srgbClr val="0B2545"/>
                          </a:solidFill>
                          <a:latin typeface="Calibri"/>
                        </a:rPr>
                        <a:t>8 · Sedang</a:t>
                      </a:r>
                    </a:p>
                  </a:txBody>
                  <a:tcPr>
                    <a:solidFill>
                      <a:srgbClr val="FEF3C7"/>
                    </a:solidFill>
                  </a:tcPr>
                </a:tc>
              </a:tr>
              <a:tr h="480060">
                <a:tc>
                  <a:txBody>
                    <a:bodyPr/>
                    <a:lstStyle/>
                    <a:p>
                      <a:pPr algn="l"/>
                      <a:r>
                        <a:rPr sz="1250" b="0" i="1">
                          <a:solidFill>
                            <a:srgbClr val="0B2545"/>
                          </a:solidFill>
                          <a:latin typeface="Calibri"/>
                        </a:rPr>
                        <a:t>Risiko baru: salah deteksi / terlewat</a:t>
                      </a:r>
                    </a:p>
                  </a:txBody>
                  <a:tcPr>
                    <a:solidFill>
                      <a:srgbClr val="FFFFFF"/>
                    </a:solidFill>
                  </a:tcPr>
                </a:tc>
                <a:tc>
                  <a:txBody>
                    <a:bodyPr/>
                    <a:lstStyle/>
                    <a:p>
                      <a:pPr algn="ctr"/>
                      <a:r>
                        <a:rPr sz="1250" b="0" i="0">
                          <a:solidFill>
                            <a:srgbClr val="0B2545"/>
                          </a:solidFill>
                          <a:latin typeface="Calibri"/>
                        </a:rPr>
                        <a:t>–</a:t>
                      </a:r>
                    </a:p>
                  </a:txBody>
                  <a:tcPr>
                    <a:solidFill>
                      <a:srgbClr val="FFFFFF"/>
                    </a:solidFill>
                  </a:tcPr>
                </a:tc>
                <a:tc>
                  <a:txBody>
                    <a:bodyPr/>
                    <a:lstStyle/>
                    <a:p>
                      <a:pPr algn="ctr"/>
                      <a:r>
                        <a:rPr sz="1250" b="0" i="0">
                          <a:solidFill>
                            <a:srgbClr val="0B2545"/>
                          </a:solidFill>
                          <a:latin typeface="Calibri"/>
                        </a:rPr>
                        <a:t>9 · Sedang</a:t>
                      </a:r>
                    </a:p>
                  </a:txBody>
                  <a:tcPr>
                    <a:solidFill>
                      <a:srgbClr val="FEF3C7"/>
                    </a:solidFill>
                  </a:tcPr>
                </a:tc>
              </a:tr>
            </a:tbl>
          </a:graphicData>
        </a:graphic>
      </p:graphicFrame>
      <p:sp>
        <p:nvSpPr>
          <p:cNvPr id="18" name="TextBox 17"/>
          <p:cNvSpPr txBox="1"/>
          <p:nvPr/>
        </p:nvSpPr>
        <p:spPr>
          <a:xfrm>
            <a:off x="4343400" y="6035040"/>
            <a:ext cx="7315200" cy="411480"/>
          </a:xfrm>
          <a:prstGeom prst="rect">
            <a:avLst/>
          </a:prstGeom>
          <a:noFill/>
        </p:spPr>
        <p:txBody>
          <a:bodyPr wrap="square" anchor="t" lIns="0" rIns="0" tIns="0" bIns="0">
            <a:spAutoFit/>
          </a:bodyPr>
          <a:lstStyle/>
          <a:p>
            <a:pPr algn="l"/>
            <a:r>
              <a:rPr sz="1150" b="0" i="0">
                <a:solidFill>
                  <a:srgbClr val="5B7085"/>
                </a:solidFill>
                <a:latin typeface="Calibri"/>
              </a:rPr>
              <a:t>Kemungkinan (L) turun karena jam paparan berkurang; keparahan (S) tetap. CV tidak menggantikan tim lapangan: verifikasi &amp; pemasangan boom tetap oleh manusia.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182880" cy="18288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67512" y="475488"/>
            <a:ext cx="182880" cy="182880"/>
          </a:xfrm>
          <a:prstGeom prst="ellipse">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86384" y="475488"/>
            <a:ext cx="182880" cy="18288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256" y="475488"/>
            <a:ext cx="182880" cy="18288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475488"/>
            <a:ext cx="182880" cy="18288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48056"/>
            <a:ext cx="5486400" cy="274320"/>
          </a:xfrm>
          <a:prstGeom prst="rect">
            <a:avLst/>
          </a:prstGeom>
          <a:noFill/>
        </p:spPr>
        <p:txBody>
          <a:bodyPr wrap="square" anchor="t" lIns="0" rIns="0" tIns="0" bIns="0">
            <a:spAutoFit/>
          </a:bodyPr>
          <a:lstStyle/>
          <a:p>
            <a:pPr algn="l"/>
            <a:r>
              <a:rPr sz="1200" b="1" i="0">
                <a:solidFill>
                  <a:srgbClr val="0E7490"/>
                </a:solidFill>
                <a:latin typeface="Calibri"/>
              </a:rPr>
              <a:t>10 · KESIMPULAN</a:t>
            </a:r>
          </a:p>
        </p:txBody>
      </p:sp>
      <p:sp>
        <p:nvSpPr>
          <p:cNvPr id="8" name="TextBox 7"/>
          <p:cNvSpPr txBox="1"/>
          <p:nvPr/>
        </p:nvSpPr>
        <p:spPr>
          <a:xfrm>
            <a:off x="548640" y="777240"/>
            <a:ext cx="11064240" cy="685800"/>
          </a:xfrm>
          <a:prstGeom prst="rect">
            <a:avLst/>
          </a:prstGeom>
          <a:noFill/>
        </p:spPr>
        <p:txBody>
          <a:bodyPr wrap="square" anchor="t" lIns="0" rIns="0" tIns="0" bIns="0">
            <a:spAutoFit/>
          </a:bodyPr>
          <a:lstStyle/>
          <a:p>
            <a:pPr algn="l"/>
            <a:r>
              <a:rPr sz="3200" b="1" i="0">
                <a:solidFill>
                  <a:srgbClr val="0B2545"/>
                </a:solidFill>
                <a:latin typeface="Calibri"/>
              </a:rPr>
              <a:t>Ringkasan &amp; pengembangan berikutnya</a:t>
            </a:r>
          </a:p>
        </p:txBody>
      </p:sp>
      <p:sp>
        <p:nvSpPr>
          <p:cNvPr id="9" name="TextBox 8"/>
          <p:cNvSpPr txBox="1"/>
          <p:nvPr/>
        </p:nvSpPr>
        <p:spPr>
          <a:xfrm>
            <a:off x="10424160" y="6446520"/>
            <a:ext cx="1280160" cy="228600"/>
          </a:xfrm>
          <a:prstGeom prst="rect">
            <a:avLst/>
          </a:prstGeom>
          <a:noFill/>
        </p:spPr>
        <p:txBody>
          <a:bodyPr wrap="square" anchor="t" lIns="0" rIns="0" tIns="0" bIns="0">
            <a:spAutoFit/>
          </a:bodyPr>
          <a:lstStyle/>
          <a:p>
            <a:pPr algn="r"/>
            <a:r>
              <a:rPr sz="1000" b="0" i="0">
                <a:solidFill>
                  <a:srgbClr val="5B7085"/>
                </a:solidFill>
                <a:latin typeface="Calibri"/>
              </a:rPr>
              <a:t>CAYMAN · 11</a:t>
            </a:r>
          </a:p>
        </p:txBody>
      </p:sp>
      <p:sp>
        <p:nvSpPr>
          <p:cNvPr id="10" name="Rounded Rectangle 9"/>
          <p:cNvSpPr/>
          <p:nvPr/>
        </p:nvSpPr>
        <p:spPr>
          <a:xfrm>
            <a:off x="548640" y="1737360"/>
            <a:ext cx="5486400" cy="3931920"/>
          </a:xfrm>
          <a:prstGeom prst="roundRect">
            <a:avLst>
              <a:gd name="adj" fmla="val 279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77240" y="198424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920240"/>
            <a:ext cx="4754880" cy="365760"/>
          </a:xfrm>
          <a:prstGeom prst="rect">
            <a:avLst/>
          </a:prstGeom>
          <a:noFill/>
        </p:spPr>
        <p:txBody>
          <a:bodyPr wrap="square" anchor="t" lIns="0" rIns="0" tIns="0" bIns="0">
            <a:spAutoFit/>
          </a:bodyPr>
          <a:lstStyle/>
          <a:p>
            <a:pPr algn="l"/>
            <a:r>
              <a:rPr sz="1700" b="1" i="0">
                <a:solidFill>
                  <a:srgbClr val="0B2545"/>
                </a:solidFill>
                <a:latin typeface="Calibri"/>
              </a:rPr>
              <a:t>Kesimpulan</a:t>
            </a:r>
          </a:p>
        </p:txBody>
      </p:sp>
      <p:sp>
        <p:nvSpPr>
          <p:cNvPr id="13" name="TextBox 12"/>
          <p:cNvSpPr txBox="1"/>
          <p:nvPr/>
        </p:nvSpPr>
        <p:spPr>
          <a:xfrm>
            <a:off x="777240" y="2377439"/>
            <a:ext cx="5029200" cy="3154679"/>
          </a:xfrm>
          <a:prstGeom prst="rect">
            <a:avLst/>
          </a:prstGeom>
          <a:noFill/>
        </p:spPr>
        <p:txBody>
          <a:bodyPr wrap="square" anchor="t" lIns="0" rIns="0" tIns="0" bIns="0">
            <a:spAutoFit/>
          </a:bodyPr>
          <a:lstStyle/>
          <a:p>
            <a:pPr algn="l">
              <a:spcAft>
                <a:spcPts val="400"/>
              </a:spcAft>
            </a:pPr>
            <a:r>
              <a:rPr sz="1800" b="0" i="0">
                <a:solidFill>
                  <a:srgbClr val="0B2545"/>
                </a:solidFill>
                <a:latin typeface="Calibri"/>
              </a:rPr>
              <a:t>• DL &gt; ML pada protokol yang sama: DeepLabV3+ Dice 0,867, U-Net Lite 0,855, RF &amp; LightGBM ±0,805, baseline 0,726.</a:t>
            </a:r>
          </a:p>
          <a:p>
            <a:pPr algn="l">
              <a:spcAft>
                <a:spcPts val="400"/>
              </a:spcAft>
            </a:pPr>
            <a:r>
              <a:rPr sz="1800" b="0" i="0">
                <a:solidFill>
                  <a:srgbClr val="0B2545"/>
                </a:solidFill>
                <a:latin typeface="Calibri"/>
              </a:rPr>
              <a:t>• Transfer learning (ImageNet) membantu, termasuk lintas sensor (PALSAR 0,798).</a:t>
            </a:r>
          </a:p>
          <a:p>
            <a:pPr algn="l">
              <a:spcAft>
                <a:spcPts val="400"/>
              </a:spcAft>
            </a:pPr>
            <a:r>
              <a:rPr sz="1800" b="0" i="0">
                <a:solidFill>
                  <a:srgbClr val="0B2545"/>
                </a:solidFill>
                <a:latin typeface="Calibri"/>
              </a:rPr>
              <a:t>• Kelima model berjalan di browser; DL INT8 tanpa penurunan akurasi.</a:t>
            </a:r>
          </a:p>
          <a:p>
            <a:pPr algn="l">
              <a:spcAft>
                <a:spcPts val="400"/>
              </a:spcAft>
            </a:pPr>
            <a:r>
              <a:rPr sz="1800" b="0" i="0">
                <a:solidFill>
                  <a:srgbClr val="0B2545"/>
                </a:solidFill>
                <a:latin typeface="Calibri"/>
              </a:rPr>
              <a:t>• Web menjadi alat bantu HSSE: poligon + GeoJSON, simulasi drift &amp; oil boom, biaya &amp; risiko.</a:t>
            </a:r>
          </a:p>
        </p:txBody>
      </p:sp>
      <p:sp>
        <p:nvSpPr>
          <p:cNvPr id="14" name="Rounded Rectangle 13"/>
          <p:cNvSpPr/>
          <p:nvPr/>
        </p:nvSpPr>
        <p:spPr>
          <a:xfrm>
            <a:off x="6172200" y="1737360"/>
            <a:ext cx="5486400" cy="3931920"/>
          </a:xfrm>
          <a:prstGeom prst="roundRect">
            <a:avLst>
              <a:gd name="adj" fmla="val 2790"/>
            </a:avLst>
          </a:prstGeom>
          <a:solidFill>
            <a:srgbClr val="EE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0" y="198424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1920240"/>
            <a:ext cx="4754880" cy="365760"/>
          </a:xfrm>
          <a:prstGeom prst="rect">
            <a:avLst/>
          </a:prstGeom>
          <a:noFill/>
        </p:spPr>
        <p:txBody>
          <a:bodyPr wrap="square" anchor="t" lIns="0" rIns="0" tIns="0" bIns="0">
            <a:spAutoFit/>
          </a:bodyPr>
          <a:lstStyle/>
          <a:p>
            <a:pPr algn="l"/>
            <a:r>
              <a:rPr sz="1700" b="1" i="0">
                <a:solidFill>
                  <a:srgbClr val="0B2545"/>
                </a:solidFill>
                <a:latin typeface="Calibri"/>
              </a:rPr>
              <a:t>Saran pengembangan</a:t>
            </a:r>
          </a:p>
        </p:txBody>
      </p:sp>
      <p:sp>
        <p:nvSpPr>
          <p:cNvPr id="17" name="TextBox 16"/>
          <p:cNvSpPr txBox="1"/>
          <p:nvPr/>
        </p:nvSpPr>
        <p:spPr>
          <a:xfrm>
            <a:off x="6400800" y="2377439"/>
            <a:ext cx="5029200" cy="3154679"/>
          </a:xfrm>
          <a:prstGeom prst="rect">
            <a:avLst/>
          </a:prstGeom>
          <a:noFill/>
        </p:spPr>
        <p:txBody>
          <a:bodyPr wrap="square" anchor="t" lIns="0" rIns="0" tIns="0" bIns="0">
            <a:spAutoFit/>
          </a:bodyPr>
          <a:lstStyle/>
          <a:p>
            <a:pPr algn="l">
              <a:spcAft>
                <a:spcPts val="400"/>
              </a:spcAft>
            </a:pPr>
            <a:r>
              <a:rPr sz="1800" b="0" i="0">
                <a:solidFill>
                  <a:srgbClr val="0B2545"/>
                </a:solidFill>
                <a:latin typeface="Calibri"/>
              </a:rPr>
              <a:t>• Tambah kelas look-alike dan data multi-sensor.</a:t>
            </a:r>
          </a:p>
          <a:p>
            <a:pPr algn="l">
              <a:spcAft>
                <a:spcPts val="400"/>
              </a:spcAft>
            </a:pPr>
            <a:r>
              <a:rPr sz="1800" b="0" i="0">
                <a:solidFill>
                  <a:srgbClr val="0B2545"/>
                </a:solidFill>
                <a:latin typeface="Calibri"/>
              </a:rPr>
              <a:t>• Proses citra Sentinel-1 penuh dengan tiling &amp; georeferensi (koordinat nyata).</a:t>
            </a:r>
          </a:p>
          <a:p>
            <a:pPr algn="l">
              <a:spcAft>
                <a:spcPts val="400"/>
              </a:spcAft>
            </a:pPr>
            <a:r>
              <a:rPr sz="1800" b="0" i="0">
                <a:solidFill>
                  <a:srgbClr val="0B2545"/>
                </a:solidFill>
                <a:latin typeface="Calibri"/>
              </a:rPr>
              <a:t>• Hubungkan simulasi dengan data angin &amp; arus operasional, validasi dengan citra berurutan.</a:t>
            </a:r>
          </a:p>
          <a:p>
            <a:pPr algn="l">
              <a:spcAft>
                <a:spcPts val="400"/>
              </a:spcAft>
            </a:pPr>
            <a:r>
              <a:rPr sz="1800" b="0" i="0">
                <a:solidFill>
                  <a:srgbClr val="0B2545"/>
                </a:solidFill>
                <a:latin typeface="Calibri"/>
              </a:rPr>
              <a:t>• Uji beberapa seed; pilot di perairan Indonesia bersama tim HSSE.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AFD"/>
        </a:solidFill>
        <a:effectLst/>
      </p:bgPr>
    </p:bg>
    <p:spTree>
      <p:nvGrpSpPr>
        <p:cNvPr id="1" name=""/>
        <p:cNvGrpSpPr/>
        <p:nvPr/>
      </p:nvGrpSpPr>
      <p:grpSpPr/>
      <p:sp>
        <p:nvSpPr>
          <p:cNvPr id="2" name="TextBox 1"/>
          <p:cNvSpPr txBox="1"/>
          <p:nvPr/>
        </p:nvSpPr>
        <p:spPr>
          <a:xfrm>
            <a:off x="640080" y="640080"/>
            <a:ext cx="7315200" cy="320040"/>
          </a:xfrm>
          <a:prstGeom prst="rect">
            <a:avLst/>
          </a:prstGeom>
          <a:noFill/>
        </p:spPr>
        <p:txBody>
          <a:bodyPr wrap="square" anchor="t" lIns="0" rIns="0" tIns="0" bIns="0">
            <a:spAutoFit/>
          </a:bodyPr>
          <a:lstStyle/>
          <a:p>
            <a:pPr algn="l"/>
            <a:r>
              <a:rPr sz="1250" b="1" i="0">
                <a:solidFill>
                  <a:srgbClr val="0E7490"/>
                </a:solidFill>
                <a:latin typeface="Calibri"/>
              </a:rPr>
              <a:t>11 · DEMO LANGSUNG</a:t>
            </a:r>
          </a:p>
        </p:txBody>
      </p:sp>
      <p:sp>
        <p:nvSpPr>
          <p:cNvPr id="3" name="TextBox 2"/>
          <p:cNvSpPr txBox="1"/>
          <p:nvPr/>
        </p:nvSpPr>
        <p:spPr>
          <a:xfrm>
            <a:off x="640080" y="1005840"/>
            <a:ext cx="7498079" cy="914400"/>
          </a:xfrm>
          <a:prstGeom prst="rect">
            <a:avLst/>
          </a:prstGeom>
          <a:noFill/>
        </p:spPr>
        <p:txBody>
          <a:bodyPr wrap="square" anchor="t" lIns="0" rIns="0" tIns="0" bIns="0">
            <a:spAutoFit/>
          </a:bodyPr>
          <a:lstStyle/>
          <a:p>
            <a:pPr algn="l"/>
            <a:r>
              <a:rPr sz="4000" b="1" i="0">
                <a:solidFill>
                  <a:srgbClr val="0B2545"/>
                </a:solidFill>
                <a:latin typeface="Calibri"/>
              </a:rPr>
              <a:t>Mari coba di web CAYMAN</a:t>
            </a:r>
          </a:p>
        </p:txBody>
      </p:sp>
      <p:sp>
        <p:nvSpPr>
          <p:cNvPr id="4" name="TextBox 3"/>
          <p:cNvSpPr txBox="1"/>
          <p:nvPr/>
        </p:nvSpPr>
        <p:spPr>
          <a:xfrm>
            <a:off x="640080" y="1920240"/>
            <a:ext cx="7315200" cy="457200"/>
          </a:xfrm>
          <a:prstGeom prst="rect">
            <a:avLst/>
          </a:prstGeom>
          <a:noFill/>
        </p:spPr>
        <p:txBody>
          <a:bodyPr wrap="square" anchor="t" lIns="0" rIns="0" tIns="0" bIns="0">
            <a:spAutoFit/>
          </a:bodyPr>
          <a:lstStyle/>
          <a:p>
            <a:pPr algn="l"/>
            <a:r>
              <a:rPr sz="2400" b="1" i="0">
                <a:solidFill>
                  <a:srgbClr val="7C3AED"/>
                </a:solidFill>
                <a:latin typeface="Calibri"/>
              </a:rPr>
              <a:t>cayman-kelompok1.vercel.app</a:t>
            </a:r>
          </a:p>
        </p:txBody>
      </p:sp>
      <p:sp>
        <p:nvSpPr>
          <p:cNvPr id="5" name="TextBox 4"/>
          <p:cNvSpPr txBox="1"/>
          <p:nvPr/>
        </p:nvSpPr>
        <p:spPr>
          <a:xfrm>
            <a:off x="640080" y="2606040"/>
            <a:ext cx="7132320" cy="2011680"/>
          </a:xfrm>
          <a:prstGeom prst="rect">
            <a:avLst/>
          </a:prstGeom>
          <a:noFill/>
        </p:spPr>
        <p:txBody>
          <a:bodyPr wrap="square" anchor="t" lIns="0" rIns="0" tIns="0" bIns="0">
            <a:spAutoFit/>
          </a:bodyPr>
          <a:lstStyle/>
          <a:p>
            <a:pPr algn="l">
              <a:spcAft>
                <a:spcPts val="600"/>
              </a:spcAft>
            </a:pPr>
            <a:r>
              <a:rPr sz="1700" b="0" i="0">
                <a:solidFill>
                  <a:srgbClr val="0B2545"/>
                </a:solidFill>
                <a:latin typeface="Calibri"/>
              </a:rPr>
              <a:t>1. Pilih model &amp; sampel → lihat poligon per slick</a:t>
            </a:r>
          </a:p>
          <a:p>
            <a:pPr algn="l">
              <a:spcAft>
                <a:spcPts val="600"/>
              </a:spcAft>
            </a:pPr>
            <a:r>
              <a:rPr sz="1700" b="0" i="0">
                <a:solidFill>
                  <a:srgbClr val="0B2545"/>
                </a:solidFill>
                <a:latin typeface="Calibri"/>
              </a:rPr>
              <a:t>2. Bandingkan semua model pada citra yang sama</a:t>
            </a:r>
          </a:p>
          <a:p>
            <a:pPr algn="l">
              <a:spcAft>
                <a:spcPts val="600"/>
              </a:spcAft>
            </a:pPr>
            <a:r>
              <a:rPr sz="1700" b="0" i="0">
                <a:solidFill>
                  <a:srgbClr val="0B2545"/>
                </a:solidFill>
                <a:latin typeface="Calibri"/>
              </a:rPr>
              <a:t>3. Simulasi angin &amp; arus → arah, laju penyebaran, oil boom</a:t>
            </a:r>
          </a:p>
          <a:p>
            <a:pPr algn="l">
              <a:spcAft>
                <a:spcPts val="600"/>
              </a:spcAft>
            </a:pPr>
            <a:r>
              <a:rPr sz="1700" b="0" i="0">
                <a:solidFill>
                  <a:srgbClr val="0B2545"/>
                </a:solidFill>
                <a:latin typeface="Calibri"/>
              </a:rPr>
              <a:t>4. Kalkulator biaya &amp; matriks risiko HSSE</a:t>
            </a:r>
          </a:p>
        </p:txBody>
      </p:sp>
      <p:sp>
        <p:nvSpPr>
          <p:cNvPr id="6" name="Rounded Rectangle 5"/>
          <p:cNvSpPr/>
          <p:nvPr/>
        </p:nvSpPr>
        <p:spPr>
          <a:xfrm>
            <a:off x="8732520" y="685800"/>
            <a:ext cx="2834640" cy="2834640"/>
          </a:xfrm>
          <a:prstGeom prst="roundRect">
            <a:avLst>
              <a:gd name="adj" fmla="val 3870"/>
            </a:avLst>
          </a:prstGeom>
          <a:solidFill>
            <a:srgbClr val="FFFFFF"/>
          </a:solidFill>
          <a:ln w="12700">
            <a:solidFill>
              <a:srgbClr val="D6E6E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qr_web.png"/>
          <p:cNvPicPr>
            <a:picLocks noChangeAspect="1"/>
          </p:cNvPicPr>
          <p:nvPr/>
        </p:nvPicPr>
        <p:blipFill>
          <a:blip r:embed="rId2"/>
          <a:stretch>
            <a:fillRect/>
          </a:stretch>
        </p:blipFill>
        <p:spPr>
          <a:xfrm>
            <a:off x="8915400" y="868680"/>
            <a:ext cx="2468880" cy="2468880"/>
          </a:xfrm>
          <a:prstGeom prst="rect">
            <a:avLst/>
          </a:prstGeom>
        </p:spPr>
      </p:pic>
      <p:sp>
        <p:nvSpPr>
          <p:cNvPr id="8" name="TextBox 7"/>
          <p:cNvSpPr txBox="1"/>
          <p:nvPr/>
        </p:nvSpPr>
        <p:spPr>
          <a:xfrm>
            <a:off x="8732520" y="3611880"/>
            <a:ext cx="2834640" cy="274320"/>
          </a:xfrm>
          <a:prstGeom prst="rect">
            <a:avLst/>
          </a:prstGeom>
          <a:noFill/>
        </p:spPr>
        <p:txBody>
          <a:bodyPr wrap="square" anchor="t" lIns="0" rIns="0" tIns="0" bIns="0">
            <a:spAutoFit/>
          </a:bodyPr>
          <a:lstStyle/>
          <a:p>
            <a:pPr algn="ctr"/>
            <a:r>
              <a:rPr sz="1150" b="0" i="0">
                <a:solidFill>
                  <a:srgbClr val="5B7085"/>
                </a:solidFill>
                <a:latin typeface="Calibri"/>
              </a:rPr>
              <a:t>Pindai untuk membuka web</a:t>
            </a:r>
          </a:p>
        </p:txBody>
      </p:sp>
      <p:sp>
        <p:nvSpPr>
          <p:cNvPr id="9" name="TextBox 8"/>
          <p:cNvSpPr txBox="1"/>
          <p:nvPr/>
        </p:nvSpPr>
        <p:spPr>
          <a:xfrm>
            <a:off x="640080" y="4617720"/>
            <a:ext cx="5486400" cy="274320"/>
          </a:xfrm>
          <a:prstGeom prst="rect">
            <a:avLst/>
          </a:prstGeom>
          <a:noFill/>
        </p:spPr>
        <p:txBody>
          <a:bodyPr wrap="square" anchor="t" lIns="0" rIns="0" tIns="0" bIns="0">
            <a:spAutoFit/>
          </a:bodyPr>
          <a:lstStyle/>
          <a:p>
            <a:pPr algn="l"/>
            <a:r>
              <a:rPr sz="1200" b="1" i="0">
                <a:solidFill>
                  <a:srgbClr val="0E7490"/>
                </a:solidFill>
                <a:latin typeface="Calibri"/>
              </a:rPr>
              <a:t>TIM CAYMAN</a:t>
            </a:r>
          </a:p>
        </p:txBody>
      </p:sp>
      <p:pic>
        <p:nvPicPr>
          <p:cNvPr id="10" name="Picture 9" descr="team_0.png"/>
          <p:cNvPicPr>
            <a:picLocks noChangeAspect="1"/>
          </p:cNvPicPr>
          <p:nvPr/>
        </p:nvPicPr>
        <p:blipFill>
          <a:blip r:embed="rId3"/>
          <a:stretch>
            <a:fillRect/>
          </a:stretch>
        </p:blipFill>
        <p:spPr>
          <a:xfrm>
            <a:off x="1051560" y="4983480"/>
            <a:ext cx="822960" cy="822960"/>
          </a:xfrm>
          <a:prstGeom prst="rect">
            <a:avLst/>
          </a:prstGeom>
        </p:spPr>
      </p:pic>
      <p:sp>
        <p:nvSpPr>
          <p:cNvPr id="11" name="TextBox 10"/>
          <p:cNvSpPr txBox="1"/>
          <p:nvPr/>
        </p:nvSpPr>
        <p:spPr>
          <a:xfrm>
            <a:off x="640080"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Ade Rizky</a:t>
            </a:r>
          </a:p>
          <a:p>
            <a:pPr algn="ctr"/>
            <a:r>
              <a:rPr sz="1050" b="0" i="0">
                <a:solidFill>
                  <a:srgbClr val="0B2545"/>
                </a:solidFill>
                <a:latin typeface="Calibri"/>
              </a:rPr>
              <a:t>Model Architect</a:t>
            </a:r>
          </a:p>
        </p:txBody>
      </p:sp>
      <p:pic>
        <p:nvPicPr>
          <p:cNvPr id="12" name="Picture 11" descr="team_1.png"/>
          <p:cNvPicPr>
            <a:picLocks noChangeAspect="1"/>
          </p:cNvPicPr>
          <p:nvPr/>
        </p:nvPicPr>
        <p:blipFill>
          <a:blip r:embed="rId4"/>
          <a:stretch>
            <a:fillRect/>
          </a:stretch>
        </p:blipFill>
        <p:spPr>
          <a:xfrm>
            <a:off x="2926080" y="4983480"/>
            <a:ext cx="822960" cy="822960"/>
          </a:xfrm>
          <a:prstGeom prst="rect">
            <a:avLst/>
          </a:prstGeom>
        </p:spPr>
      </p:pic>
      <p:sp>
        <p:nvSpPr>
          <p:cNvPr id="13" name="TextBox 12"/>
          <p:cNvSpPr txBox="1"/>
          <p:nvPr/>
        </p:nvSpPr>
        <p:spPr>
          <a:xfrm>
            <a:off x="2514600"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Arkananta Daniswara</a:t>
            </a:r>
          </a:p>
          <a:p>
            <a:pPr algn="ctr"/>
            <a:r>
              <a:rPr sz="1050" b="0" i="0">
                <a:solidFill>
                  <a:srgbClr val="0B2545"/>
                </a:solidFill>
                <a:latin typeface="Calibri"/>
              </a:rPr>
              <a:t>Data &amp; Pipeline</a:t>
            </a:r>
          </a:p>
        </p:txBody>
      </p:sp>
      <p:pic>
        <p:nvPicPr>
          <p:cNvPr id="14" name="Picture 13" descr="team_2.png"/>
          <p:cNvPicPr>
            <a:picLocks noChangeAspect="1"/>
          </p:cNvPicPr>
          <p:nvPr/>
        </p:nvPicPr>
        <p:blipFill>
          <a:blip r:embed="rId5"/>
          <a:stretch>
            <a:fillRect/>
          </a:stretch>
        </p:blipFill>
        <p:spPr>
          <a:xfrm>
            <a:off x="4800600" y="4983480"/>
            <a:ext cx="822960" cy="822960"/>
          </a:xfrm>
          <a:prstGeom prst="rect">
            <a:avLst/>
          </a:prstGeom>
        </p:spPr>
      </p:pic>
      <p:sp>
        <p:nvSpPr>
          <p:cNvPr id="15" name="TextBox 14"/>
          <p:cNvSpPr txBox="1"/>
          <p:nvPr/>
        </p:nvSpPr>
        <p:spPr>
          <a:xfrm>
            <a:off x="4389120"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Muhammad Arsyad</a:t>
            </a:r>
          </a:p>
          <a:p>
            <a:pPr algn="ctr"/>
            <a:r>
              <a:rPr sz="1050" b="0" i="0">
                <a:solidFill>
                  <a:srgbClr val="0B2545"/>
                </a:solidFill>
                <a:latin typeface="Calibri"/>
              </a:rPr>
              <a:t>Deployment &amp; Edge</a:t>
            </a:r>
          </a:p>
        </p:txBody>
      </p:sp>
      <p:pic>
        <p:nvPicPr>
          <p:cNvPr id="16" name="Picture 15" descr="team_3.png"/>
          <p:cNvPicPr>
            <a:picLocks noChangeAspect="1"/>
          </p:cNvPicPr>
          <p:nvPr/>
        </p:nvPicPr>
        <p:blipFill>
          <a:blip r:embed="rId6"/>
          <a:stretch>
            <a:fillRect/>
          </a:stretch>
        </p:blipFill>
        <p:spPr>
          <a:xfrm>
            <a:off x="6675120" y="4983480"/>
            <a:ext cx="822960" cy="822960"/>
          </a:xfrm>
          <a:prstGeom prst="rect">
            <a:avLst/>
          </a:prstGeom>
        </p:spPr>
      </p:pic>
      <p:sp>
        <p:nvSpPr>
          <p:cNvPr id="17" name="TextBox 16"/>
          <p:cNvSpPr txBox="1"/>
          <p:nvPr/>
        </p:nvSpPr>
        <p:spPr>
          <a:xfrm>
            <a:off x="6263640"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Choirul Amin</a:t>
            </a:r>
          </a:p>
          <a:p>
            <a:pPr algn="ctr"/>
            <a:r>
              <a:rPr sz="1050" b="0" i="0">
                <a:solidFill>
                  <a:srgbClr val="0B2545"/>
                </a:solidFill>
                <a:latin typeface="Calibri"/>
              </a:rPr>
              <a:t>Frontend &amp; UX</a:t>
            </a:r>
          </a:p>
        </p:txBody>
      </p:sp>
      <p:pic>
        <p:nvPicPr>
          <p:cNvPr id="18" name="Picture 17" descr="team_4.png"/>
          <p:cNvPicPr>
            <a:picLocks noChangeAspect="1"/>
          </p:cNvPicPr>
          <p:nvPr/>
        </p:nvPicPr>
        <p:blipFill>
          <a:blip r:embed="rId7"/>
          <a:stretch>
            <a:fillRect/>
          </a:stretch>
        </p:blipFill>
        <p:spPr>
          <a:xfrm>
            <a:off x="8549639" y="4983480"/>
            <a:ext cx="822960" cy="822960"/>
          </a:xfrm>
          <a:prstGeom prst="rect">
            <a:avLst/>
          </a:prstGeom>
        </p:spPr>
      </p:pic>
      <p:sp>
        <p:nvSpPr>
          <p:cNvPr id="19" name="TextBox 18"/>
          <p:cNvSpPr txBox="1"/>
          <p:nvPr/>
        </p:nvSpPr>
        <p:spPr>
          <a:xfrm>
            <a:off x="8138159"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Hana Titania</a:t>
            </a:r>
          </a:p>
          <a:p>
            <a:pPr algn="ctr"/>
            <a:r>
              <a:rPr sz="1050" b="0" i="0">
                <a:solidFill>
                  <a:srgbClr val="0B2545"/>
                </a:solidFill>
                <a:latin typeface="Calibri"/>
              </a:rPr>
              <a:t>Lead Technical Writer</a:t>
            </a:r>
          </a:p>
        </p:txBody>
      </p:sp>
      <p:pic>
        <p:nvPicPr>
          <p:cNvPr id="20" name="Picture 19" descr="team_5.png"/>
          <p:cNvPicPr>
            <a:picLocks noChangeAspect="1"/>
          </p:cNvPicPr>
          <p:nvPr/>
        </p:nvPicPr>
        <p:blipFill>
          <a:blip r:embed="rId8"/>
          <a:stretch>
            <a:fillRect/>
          </a:stretch>
        </p:blipFill>
        <p:spPr>
          <a:xfrm>
            <a:off x="10424159" y="4983480"/>
            <a:ext cx="822960" cy="822960"/>
          </a:xfrm>
          <a:prstGeom prst="rect">
            <a:avLst/>
          </a:prstGeom>
        </p:spPr>
      </p:pic>
      <p:sp>
        <p:nvSpPr>
          <p:cNvPr id="21" name="TextBox 20"/>
          <p:cNvSpPr txBox="1"/>
          <p:nvPr/>
        </p:nvSpPr>
        <p:spPr>
          <a:xfrm>
            <a:off x="10012680" y="5852160"/>
            <a:ext cx="1645920" cy="548640"/>
          </a:xfrm>
          <a:prstGeom prst="rect">
            <a:avLst/>
          </a:prstGeom>
          <a:noFill/>
        </p:spPr>
        <p:txBody>
          <a:bodyPr wrap="square" anchor="t" lIns="0" rIns="0" tIns="0" bIns="0">
            <a:spAutoFit/>
          </a:bodyPr>
          <a:lstStyle/>
          <a:p>
            <a:pPr algn="ctr"/>
            <a:r>
              <a:rPr sz="1050" b="1" i="0">
                <a:solidFill>
                  <a:srgbClr val="0B2545"/>
                </a:solidFill>
                <a:latin typeface="Calibri"/>
              </a:rPr>
              <a:t>Zaydan Arief</a:t>
            </a:r>
          </a:p>
          <a:p>
            <a:pPr algn="ctr"/>
            <a:r>
              <a:rPr sz="1050" b="0" i="0">
                <a:solidFill>
                  <a:srgbClr val="0B2545"/>
                </a:solidFill>
                <a:latin typeface="Calibri"/>
              </a:rPr>
              <a:t>Research &amp; Business Impact Analyst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